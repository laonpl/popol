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Pretendard Bold" panose="020B0600000101010101" charset="-127"/>
      <p:bold r:id="rId10"/>
    </p:embeddedFont>
    <p:embeddedFont>
      <p:font typeface="Pretendard ExtraBold" panose="020B0600000101010101" charset="-127"/>
      <p:bold r:id="rId11"/>
    </p:embeddedFont>
    <p:embeddedFont>
      <p:font typeface="Pretendard Regular" panose="020B0600000101010101" charset="-127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594" y="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13.png"/><Relationship Id="rId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13.png"/><Relationship Id="rId4" Type="http://schemas.openxmlformats.org/officeDocument/2006/relationships/image" Target="../media/image23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13.png"/><Relationship Id="rId4" Type="http://schemas.openxmlformats.org/officeDocument/2006/relationships/image" Target="../media/image30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8623300"/>
            <a:ext cx="16002000" cy="1041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724400" y="9118600"/>
            <a:ext cx="292100" cy="3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803400" y="9118600"/>
            <a:ext cx="292100" cy="3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8400" y="762000"/>
            <a:ext cx="12560300" cy="12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454140" y="8916727"/>
            <a:ext cx="30607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altLang="en-US" sz="2000" b="0" i="0" u="none" strike="noStrike" dirty="0">
                <a:solidFill>
                  <a:srgbClr val="2C2C2C"/>
                </a:solidFill>
                <a:ea typeface="Pretendard Regular"/>
              </a:rPr>
              <a:t>컴퓨터공학과 </a:t>
            </a:r>
            <a:r>
              <a:rPr lang="en-US" altLang="ko-KR" sz="2000" b="0" i="0" u="none" strike="noStrike" dirty="0">
                <a:solidFill>
                  <a:srgbClr val="2C2C2C"/>
                </a:solidFill>
                <a:ea typeface="Pretendard Regular"/>
              </a:rPr>
              <a:t>202135940</a:t>
            </a:r>
            <a:endParaRPr lang="ko-KR" sz="2000" b="0" i="0" u="none" strike="noStrike" dirty="0">
              <a:solidFill>
                <a:srgbClr val="2C2C2C"/>
              </a:solidFill>
              <a:ea typeface="Pretendard Regula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991100" y="8928100"/>
            <a:ext cx="14478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altLang="en-US" sz="2000" b="0" i="0" u="none" strike="noStrike" dirty="0">
                <a:solidFill>
                  <a:srgbClr val="2C2C2C"/>
                </a:solidFill>
                <a:ea typeface="Pretendard Bold"/>
              </a:rPr>
              <a:t>학과 및 학번</a:t>
            </a:r>
            <a:r>
              <a:rPr lang="en-US" sz="2000" b="0" i="0" u="none" strike="noStrike" dirty="0">
                <a:solidFill>
                  <a:srgbClr val="2C2C2C"/>
                </a:solidFill>
                <a:latin typeface="Pretendard Bold"/>
              </a:rPr>
              <a:t> :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09900" y="8920630"/>
            <a:ext cx="9906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altLang="en-US" sz="2000" b="0" i="0" u="none" strike="noStrike" dirty="0">
                <a:solidFill>
                  <a:srgbClr val="2C2C2C"/>
                </a:solidFill>
                <a:ea typeface="Pretendard Regular"/>
              </a:rPr>
              <a:t>김유신</a:t>
            </a:r>
            <a:endParaRPr lang="ko-KR" sz="2000" b="0" i="0" u="none" strike="noStrike" dirty="0">
              <a:solidFill>
                <a:srgbClr val="2C2C2C"/>
              </a:solidFill>
              <a:ea typeface="Pretendard Regula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089150" y="8919329"/>
            <a:ext cx="9906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altLang="en-US" sz="2000" dirty="0">
                <a:solidFill>
                  <a:srgbClr val="2C2C2C"/>
                </a:solidFill>
                <a:latin typeface="Pretendard Bold"/>
                <a:ea typeface="Pretendard Bold"/>
              </a:rPr>
              <a:t>발표자</a:t>
            </a:r>
            <a:r>
              <a:rPr lang="en-US" sz="2000" b="0" i="0" u="none" strike="noStrike" dirty="0">
                <a:solidFill>
                  <a:srgbClr val="2C2C2C"/>
                </a:solidFill>
                <a:latin typeface="Pretendard Bold"/>
              </a:rPr>
              <a:t> : 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24000" y="5448300"/>
            <a:ext cx="41148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endParaRPr lang="en-US" sz="2400" b="0" i="0" u="none" strike="noStrike" dirty="0">
              <a:solidFill>
                <a:srgbClr val="207CD7"/>
              </a:solidFill>
              <a:latin typeface="Pretendard Regula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438400" y="4088674"/>
            <a:ext cx="11760200" cy="193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7200" b="0" i="0" u="none" strike="noStrike" dirty="0">
                <a:ea typeface="Pretendard ExtraBold"/>
              </a:rPr>
              <a:t>인생 역전 나도 할 수 있다</a:t>
            </a:r>
            <a:r>
              <a:rPr lang="en-US" altLang="ko-KR" sz="7200" b="0" i="0" u="none" strike="noStrike" dirty="0">
                <a:ea typeface="Pretendard ExtraBold"/>
              </a:rPr>
              <a:t>?</a:t>
            </a:r>
            <a:endParaRPr lang="ko-KR" sz="7200" b="0" i="0" u="none" strike="noStrike" dirty="0">
              <a:ea typeface="Pretendard Extra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524000" y="2336800"/>
            <a:ext cx="10972800" cy="1308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9600" b="0" i="0" u="none" strike="noStrike">
                <a:solidFill>
                  <a:srgbClr val="FF0000"/>
                </a:solidFill>
                <a:ea typeface="Pretendard Bold"/>
              </a:rPr>
              <a:t>불법 도박</a:t>
            </a:r>
            <a:endParaRPr lang="en-US" sz="9600" b="0" i="0" u="none" strike="noStrike" dirty="0">
              <a:solidFill>
                <a:srgbClr val="FF0000"/>
              </a:solidFill>
              <a:latin typeface="Pretendard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892300" y="622300"/>
            <a:ext cx="1600200" cy="317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endParaRPr lang="en-US" sz="1800" b="0" i="0" u="none" strike="noStrike" dirty="0">
              <a:solidFill>
                <a:srgbClr val="207CD7"/>
              </a:solidFill>
              <a:latin typeface="Pretendard Regula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6205" y="7785100"/>
            <a:ext cx="9969500" cy="1104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6197600"/>
            <a:ext cx="9969500" cy="110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4597400"/>
            <a:ext cx="9969500" cy="1104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2997200"/>
            <a:ext cx="9969500" cy="1104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1397000"/>
            <a:ext cx="9969500" cy="1104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7975600"/>
            <a:ext cx="876300" cy="723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6375400"/>
            <a:ext cx="876300" cy="723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4787900"/>
            <a:ext cx="876300" cy="723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3187700"/>
            <a:ext cx="876300" cy="723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1587500"/>
            <a:ext cx="876300" cy="723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8280400"/>
            <a:ext cx="749300" cy="7493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3303" y="5842000"/>
            <a:ext cx="2726491" cy="2159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623300" y="8089900"/>
            <a:ext cx="3505200" cy="5334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>
              <a:lnSpc>
                <a:spcPct val="166000"/>
              </a:lnSpc>
            </a:pPr>
            <a:r>
              <a:rPr lang="en-US" altLang="ko-KR" sz="3000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TEST</a:t>
            </a:r>
            <a:endParaRPr lang="ko-KR" sz="3000" b="0" i="0" u="none" strike="noStrike" dirty="0">
              <a:solidFill>
                <a:srgbClr val="00000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505700" y="8204200"/>
            <a:ext cx="546100" cy="4572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>
              <a:lnSpc>
                <a:spcPct val="166000"/>
              </a:lnSpc>
            </a:pPr>
            <a:r>
              <a:rPr lang="en-US" sz="2600" b="0" i="0" u="none" strike="noStrike">
                <a:solidFill>
                  <a:srgbClr val="1879C2"/>
                </a:solidFill>
                <a:latin typeface="Pretendard Bold"/>
              </a:rPr>
              <a:t>05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623300" y="6489700"/>
            <a:ext cx="3505200" cy="5334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>
              <a:lnSpc>
                <a:spcPct val="166000"/>
              </a:lnSpc>
            </a:pPr>
            <a:r>
              <a:rPr lang="en-US" altLang="ko-KR" sz="3000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PROTOTYPE</a:t>
            </a:r>
            <a:endParaRPr lang="ko-KR" sz="3000" b="0" i="0" u="none" strike="noStrike" dirty="0">
              <a:solidFill>
                <a:srgbClr val="00000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505700" y="6604000"/>
            <a:ext cx="546100" cy="4572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>
              <a:lnSpc>
                <a:spcPct val="166000"/>
              </a:lnSpc>
            </a:pPr>
            <a:r>
              <a:rPr lang="en-US" sz="2600" b="0" i="0" u="none" strike="noStrike">
                <a:solidFill>
                  <a:srgbClr val="1879C2"/>
                </a:solidFill>
                <a:latin typeface="Pretendard Bold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23300" y="4889500"/>
            <a:ext cx="3505200" cy="5334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>
              <a:lnSpc>
                <a:spcPct val="166000"/>
              </a:lnSpc>
            </a:pPr>
            <a:r>
              <a:rPr lang="en-US" altLang="ko-KR" sz="3000" dirty="0">
                <a:solidFill>
                  <a:srgbClr val="000000"/>
                </a:solidFill>
                <a:latin typeface="Pretendard Bold"/>
                <a:ea typeface="Pretendard Bold"/>
              </a:rPr>
              <a:t>IDEATE</a:t>
            </a:r>
            <a:endParaRPr lang="ko-KR" sz="3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505700" y="5003800"/>
            <a:ext cx="546100" cy="4572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>
              <a:lnSpc>
                <a:spcPct val="166000"/>
              </a:lnSpc>
            </a:pPr>
            <a:r>
              <a:rPr lang="en-US" sz="2600" b="0" i="0" u="none" strike="noStrike">
                <a:solidFill>
                  <a:srgbClr val="1879C2"/>
                </a:solidFill>
                <a:latin typeface="Pretendard Bold"/>
              </a:rPr>
              <a:t>03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623300" y="3289300"/>
            <a:ext cx="3505200" cy="5334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>
              <a:lnSpc>
                <a:spcPct val="166000"/>
              </a:lnSpc>
            </a:pPr>
            <a:r>
              <a:rPr lang="en-US" altLang="ko-KR" sz="3000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DEFINE</a:t>
            </a:r>
            <a:endParaRPr lang="ko-KR" sz="3000" b="0" i="0" u="none" strike="noStrike" dirty="0">
              <a:solidFill>
                <a:srgbClr val="00000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505700" y="3403600"/>
            <a:ext cx="546100" cy="4572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>
              <a:lnSpc>
                <a:spcPct val="166000"/>
              </a:lnSpc>
            </a:pPr>
            <a:r>
              <a:rPr lang="en-US" sz="2600" b="0" i="0" u="none" strike="noStrike">
                <a:solidFill>
                  <a:srgbClr val="1879C2"/>
                </a:solidFill>
                <a:latin typeface="Pretendard Bold"/>
              </a:rPr>
              <a:t>02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23300" y="1689100"/>
            <a:ext cx="3505200" cy="5334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>
              <a:lnSpc>
                <a:spcPct val="166000"/>
              </a:lnSpc>
            </a:pPr>
            <a:r>
              <a:rPr lang="en-US" altLang="ko-KR" sz="3000" b="0" i="0" u="none" strike="noStrike" dirty="0">
                <a:solidFill>
                  <a:srgbClr val="000000"/>
                </a:solidFill>
                <a:latin typeface="Pretendard Bold"/>
                <a:ea typeface="Pretendard Bold"/>
              </a:rPr>
              <a:t>EMPATHIZE</a:t>
            </a:r>
            <a:endParaRPr lang="ko-KR" sz="3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7505700" y="1803400"/>
            <a:ext cx="546100" cy="4572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>
              <a:lnSpc>
                <a:spcPct val="166000"/>
              </a:lnSpc>
            </a:pPr>
            <a:r>
              <a:rPr lang="en-US" sz="2600" b="0" i="0" u="none" strike="noStrike">
                <a:solidFill>
                  <a:srgbClr val="1879C2"/>
                </a:solidFill>
                <a:latin typeface="Pretendard Bold"/>
              </a:rPr>
              <a:t>01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19250" y="6273800"/>
            <a:ext cx="3352800" cy="82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ko-KR" altLang="en-US" sz="2300" b="0" i="0" u="none" strike="noStrike" dirty="0">
                <a:solidFill>
                  <a:srgbClr val="2C2C2C"/>
                </a:solidFill>
                <a:ea typeface="Pretendard Regular"/>
              </a:rPr>
              <a:t>순서</a:t>
            </a:r>
            <a:r>
              <a:rPr lang="ko-KR" sz="2300" b="0" i="0" u="none" strike="noStrike" dirty="0">
                <a:solidFill>
                  <a:srgbClr val="2C2C2C"/>
                </a:solidFill>
                <a:ea typeface="Pretendard Regular"/>
              </a:rPr>
              <a:t>는</a:t>
            </a:r>
            <a:r>
              <a:rPr lang="en-US" sz="2300" b="0" i="0" u="none" strike="noStrike" dirty="0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altLang="en-US" sz="2300" dirty="0">
                <a:solidFill>
                  <a:srgbClr val="2C2C2C"/>
                </a:solidFill>
                <a:latin typeface="Pretendard Regular"/>
                <a:ea typeface="Pretendard Regular"/>
              </a:rPr>
              <a:t>다음과 </a:t>
            </a:r>
            <a:r>
              <a:rPr lang="ko-KR" altLang="en-US" sz="2300" dirty="0">
                <a:solidFill>
                  <a:srgbClr val="2C2C2C"/>
                </a:solidFill>
                <a:ea typeface="Pretendard Regular"/>
              </a:rPr>
              <a:t>같아</a:t>
            </a:r>
            <a:r>
              <a:rPr lang="ko-KR" sz="2300" b="0" i="0" u="none" strike="noStrike" dirty="0">
                <a:solidFill>
                  <a:srgbClr val="2C2C2C"/>
                </a:solidFill>
                <a:ea typeface="Pretendard Regular"/>
              </a:rPr>
              <a:t>요</a:t>
            </a:r>
            <a:r>
              <a:rPr lang="en-US" sz="2300" b="0" i="0" u="none" strike="noStrike" dirty="0">
                <a:solidFill>
                  <a:srgbClr val="2C2C2C"/>
                </a:solidFill>
                <a:latin typeface="Pretendard Regular"/>
              </a:rPr>
              <a:t>!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74800" y="2146300"/>
            <a:ext cx="22098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99600"/>
              </a:lnSpc>
            </a:pPr>
            <a:r>
              <a:rPr lang="en-US" sz="2000" b="0" i="0" u="none" strike="noStrike">
                <a:solidFill>
                  <a:srgbClr val="207CD7"/>
                </a:solidFill>
                <a:latin typeface="Pretendard Bold"/>
              </a:rPr>
              <a:t>Contents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24000" y="927100"/>
            <a:ext cx="3543300" cy="1282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99600"/>
              </a:lnSpc>
            </a:pPr>
            <a:r>
              <a:rPr lang="ko-KR" sz="7200" b="0" i="0" u="none" strike="noStrike">
                <a:solidFill>
                  <a:srgbClr val="2C2C2C"/>
                </a:solidFill>
                <a:ea typeface="Pretendard ExtraBold"/>
              </a:rPr>
              <a:t>목차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6731000"/>
            <a:ext cx="10045700" cy="2413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937000"/>
            <a:ext cx="10045700" cy="2413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1143000"/>
            <a:ext cx="10045700" cy="2413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271000" y="7937500"/>
            <a:ext cx="19431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271000" y="5130800"/>
            <a:ext cx="19431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271000" y="2336800"/>
            <a:ext cx="19431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0795000" y="7353300"/>
            <a:ext cx="5664200" cy="1219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이곳에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프로젝트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개요를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입력해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주세요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신규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프로젝트의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진행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배경도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알려주세요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구체적인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목표를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함께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입력해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주셔도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좋아요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20000" y="7810500"/>
            <a:ext cx="21336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2C2C2C"/>
                </a:solidFill>
                <a:ea typeface="Pretendard Bold"/>
              </a:rPr>
              <a:t>업무</a:t>
            </a:r>
            <a:r>
              <a:rPr lang="en-US" sz="2800" b="0" i="0" u="none" strike="noStrike">
                <a:solidFill>
                  <a:srgbClr val="2C2C2C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Bold"/>
              </a:rPr>
              <a:t>키워드</a:t>
            </a:r>
            <a:r>
              <a:rPr lang="en-US" sz="2800" b="0" i="0" u="none" strike="noStrike">
                <a:solidFill>
                  <a:srgbClr val="2C2C2C"/>
                </a:solidFill>
                <a:latin typeface="Pretendard Bold"/>
              </a:rPr>
              <a:t> C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20000" y="7493000"/>
            <a:ext cx="9398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9CB8D0"/>
                </a:solidFill>
                <a:ea typeface="Pretendard Bold"/>
              </a:rPr>
              <a:t>키워드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95000" y="4546600"/>
            <a:ext cx="5664200" cy="1219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이곳에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프로젝트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개요를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입력해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주세요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신규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프로젝트의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진행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배경도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알려주세요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구체적인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목표를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함께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입력해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주셔도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좋아요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20000" y="5003800"/>
            <a:ext cx="21336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2C2C2C"/>
                </a:solidFill>
                <a:ea typeface="Pretendard Bold"/>
              </a:rPr>
              <a:t>업무</a:t>
            </a:r>
            <a:r>
              <a:rPr lang="en-US" sz="2800" b="0" i="0" u="none" strike="noStrike">
                <a:solidFill>
                  <a:srgbClr val="2C2C2C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Bold"/>
              </a:rPr>
              <a:t>키워드</a:t>
            </a:r>
            <a:r>
              <a:rPr lang="en-US" sz="2800" b="0" i="0" u="none" strike="noStrike">
                <a:solidFill>
                  <a:srgbClr val="2C2C2C"/>
                </a:solidFill>
                <a:latin typeface="Pretendard Bold"/>
              </a:rPr>
              <a:t> B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620000" y="4699000"/>
            <a:ext cx="9398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9CB8D0"/>
                </a:solidFill>
                <a:ea typeface="Pretendard Bold"/>
              </a:rPr>
              <a:t>키워드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95000" y="1752600"/>
            <a:ext cx="5664200" cy="1219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이곳에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프로젝트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개요를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입력해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주세요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신규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프로젝트의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진행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배경도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알려주세요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구체적인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목표를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함께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입력해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주셔도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좋아요</a:t>
            </a:r>
            <a:r>
              <a:rPr lang="en-US" sz="2100" b="0" i="0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20000" y="2209800"/>
            <a:ext cx="21336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2C2C2C"/>
                </a:solidFill>
                <a:ea typeface="Pretendard Bold"/>
              </a:rPr>
              <a:t>업무</a:t>
            </a:r>
            <a:r>
              <a:rPr lang="en-US" sz="2800" b="0" i="0" u="none" strike="noStrike">
                <a:solidFill>
                  <a:srgbClr val="2C2C2C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Bold"/>
              </a:rPr>
              <a:t>키워드</a:t>
            </a:r>
            <a:r>
              <a:rPr lang="en-US" sz="2800" b="0" i="0" u="none" strike="noStrike">
                <a:solidFill>
                  <a:srgbClr val="2C2C2C"/>
                </a:solidFill>
                <a:latin typeface="Pretendard Bold"/>
              </a:rPr>
              <a:t> 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20000" y="1892300"/>
            <a:ext cx="9398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9CB8D0"/>
                </a:solidFill>
                <a:ea typeface="Pretendard Bold"/>
              </a:rPr>
              <a:t>키워드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0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분기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진행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업무를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소개해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주세요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업무의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목적과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목표를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함께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적어주시면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좋습니다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. 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74800" y="2933700"/>
            <a:ext cx="22098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>
                <a:solidFill>
                  <a:srgbClr val="207CD7"/>
                </a:solidFill>
                <a:latin typeface="Pretendard Bold"/>
              </a:rPr>
              <a:t>Q0 Proceedings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6750" y="901700"/>
            <a:ext cx="4584700" cy="198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 dirty="0">
                <a:solidFill>
                  <a:srgbClr val="2C2C2C"/>
                </a:solidFill>
                <a:latin typeface="Pretendard ExtraBold"/>
              </a:rPr>
              <a:t>EMPATHIZE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1200" y="4711700"/>
            <a:ext cx="5080000" cy="4406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0" y="5041900"/>
            <a:ext cx="4597400" cy="2247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41200" y="3657600"/>
            <a:ext cx="5080000" cy="95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4711700"/>
            <a:ext cx="5080000" cy="4406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5041900"/>
            <a:ext cx="4597400" cy="224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0" y="3657600"/>
            <a:ext cx="5080000" cy="952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1143000"/>
            <a:ext cx="10490200" cy="2146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416800" y="2743200"/>
            <a:ext cx="292100" cy="38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416800" y="2286000"/>
            <a:ext cx="292100" cy="38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2382500" y="7556500"/>
            <a:ext cx="4648200" cy="1117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이곳에</a:t>
            </a:r>
            <a:r>
              <a:rPr lang="en-US" sz="19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기존</a:t>
            </a:r>
            <a:r>
              <a:rPr lang="en-US" sz="19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서비스를</a:t>
            </a:r>
            <a:r>
              <a:rPr lang="en-US" sz="19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설명해</a:t>
            </a:r>
            <a:r>
              <a:rPr lang="en-US" sz="19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주세요</a:t>
            </a:r>
            <a:r>
              <a:rPr lang="en-US" sz="1900" b="0" i="0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32800"/>
              </a:lnSpc>
            </a:pP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대조군과</a:t>
            </a:r>
            <a:r>
              <a:rPr lang="en-US" sz="19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비교하게</a:t>
            </a:r>
            <a:r>
              <a:rPr lang="en-US" sz="19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될</a:t>
            </a:r>
            <a:r>
              <a:rPr lang="en-US" sz="19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주요</a:t>
            </a:r>
            <a:r>
              <a:rPr lang="en-US" sz="19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내용을</a:t>
            </a:r>
            <a:r>
              <a:rPr lang="en-US" sz="19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입력하세요</a:t>
            </a:r>
            <a:r>
              <a:rPr lang="en-US" sz="1900" b="0" i="0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32800"/>
              </a:lnSpc>
            </a:pP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실험군의</a:t>
            </a:r>
            <a:r>
              <a:rPr lang="en-US" sz="19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인사이트나</a:t>
            </a:r>
            <a:r>
              <a:rPr lang="en-US" sz="19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개선사항을</a:t>
            </a:r>
            <a:r>
              <a:rPr lang="en-US" sz="19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입력하세요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030200" y="3898900"/>
            <a:ext cx="33020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ko-KR" sz="2800" b="0" i="0" u="none" strike="noStrike">
                <a:solidFill>
                  <a:srgbClr val="FFFFFF"/>
                </a:solidFill>
                <a:ea typeface="Pretendard Bold"/>
              </a:rPr>
              <a:t>실험군</a:t>
            </a:r>
            <a:r>
              <a:rPr lang="en-US" sz="2800" b="0" i="0" u="none" strike="noStrike">
                <a:solidFill>
                  <a:srgbClr val="FFFFFF"/>
                </a:solidFill>
                <a:latin typeface="Pretendard Bold"/>
              </a:rPr>
              <a:t> (</a:t>
            </a:r>
            <a:r>
              <a:rPr lang="ko-KR" sz="2800" b="0" i="0" u="none" strike="noStrike">
                <a:solidFill>
                  <a:srgbClr val="FFFFFF"/>
                </a:solidFill>
                <a:ea typeface="Pretendard Bold"/>
              </a:rPr>
              <a:t>실험</a:t>
            </a:r>
            <a:r>
              <a:rPr lang="en-US" sz="28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FFFFFF"/>
                </a:solidFill>
                <a:ea typeface="Pretendard Bold"/>
              </a:rPr>
              <a:t>서비스</a:t>
            </a:r>
            <a:r>
              <a:rPr lang="en-US" sz="2800" b="0" i="0" u="none" strike="noStrike">
                <a:solidFill>
                  <a:srgbClr val="FFFFFF"/>
                </a:solidFill>
                <a:latin typeface="Pretendard Bold"/>
              </a:rPr>
              <a:t>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85000" y="7556500"/>
            <a:ext cx="4648200" cy="1117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이곳에</a:t>
            </a:r>
            <a:r>
              <a:rPr lang="en-US" sz="19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기존</a:t>
            </a:r>
            <a:r>
              <a:rPr lang="en-US" sz="19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서비스를</a:t>
            </a:r>
            <a:r>
              <a:rPr lang="en-US" sz="19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설명해</a:t>
            </a:r>
            <a:r>
              <a:rPr lang="en-US" sz="19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주세요</a:t>
            </a:r>
            <a:r>
              <a:rPr lang="en-US" sz="1900" b="0" i="0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32800"/>
              </a:lnSpc>
            </a:pP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실험군과</a:t>
            </a:r>
            <a:r>
              <a:rPr lang="en-US" sz="19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비교하게</a:t>
            </a:r>
            <a:r>
              <a:rPr lang="en-US" sz="19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될</a:t>
            </a:r>
            <a:r>
              <a:rPr lang="en-US" sz="19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주요</a:t>
            </a:r>
            <a:r>
              <a:rPr lang="en-US" sz="19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내용을</a:t>
            </a:r>
            <a:r>
              <a:rPr lang="en-US" sz="19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입력하세요</a:t>
            </a:r>
            <a:r>
              <a:rPr lang="en-US" sz="1900" b="0" i="0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32800"/>
              </a:lnSpc>
            </a:pP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대조군에서의</a:t>
            </a:r>
            <a:r>
              <a:rPr lang="en-US" sz="19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문제나</a:t>
            </a:r>
            <a:r>
              <a:rPr lang="en-US" sz="19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개선사항을</a:t>
            </a:r>
            <a:r>
              <a:rPr lang="en-US" sz="19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입력하세요</a:t>
            </a:r>
            <a:r>
              <a:rPr lang="en-US" sz="1900" b="0" i="0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32700" y="3898900"/>
            <a:ext cx="33020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ko-KR" sz="2800" b="0" i="0" u="none" strike="noStrike">
                <a:solidFill>
                  <a:srgbClr val="FFFFFF"/>
                </a:solidFill>
                <a:ea typeface="Pretendard Bold"/>
              </a:rPr>
              <a:t>대조군</a:t>
            </a:r>
            <a:r>
              <a:rPr lang="en-US" sz="2800" b="0" i="0" u="none" strike="noStrike">
                <a:solidFill>
                  <a:srgbClr val="FFFFFF"/>
                </a:solidFill>
                <a:latin typeface="Pretendard Bold"/>
              </a:rPr>
              <a:t> (</a:t>
            </a:r>
            <a:r>
              <a:rPr lang="ko-KR" sz="2800" b="0" i="0" u="none" strike="noStrike">
                <a:solidFill>
                  <a:srgbClr val="FFFFFF"/>
                </a:solidFill>
                <a:ea typeface="Pretendard Bold"/>
              </a:rPr>
              <a:t>기존</a:t>
            </a:r>
            <a:r>
              <a:rPr lang="en-US" sz="28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FFFFFF"/>
                </a:solidFill>
                <a:ea typeface="Pretendard Bold"/>
              </a:rPr>
              <a:t>서비스</a:t>
            </a:r>
            <a:r>
              <a:rPr lang="en-US" sz="2800" b="0" i="0" u="none" strike="noStrike">
                <a:solidFill>
                  <a:srgbClr val="FFFFFF"/>
                </a:solidFill>
                <a:latin typeface="Pretendard Bold"/>
              </a:rPr>
              <a:t>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10700" y="2590800"/>
            <a:ext cx="56642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이곳에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목표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지표를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입력하세요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. 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34300" y="2603500"/>
            <a:ext cx="15748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Bold"/>
              </a:rPr>
              <a:t>목표</a:t>
            </a:r>
            <a:r>
              <a:rPr lang="en-US" sz="2000" b="0" i="0" u="none" strike="noStrike">
                <a:solidFill>
                  <a:srgbClr val="2C2C2C"/>
                </a:solidFill>
                <a:latin typeface="Pretendard Bold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Bold"/>
              </a:rPr>
              <a:t>지표</a:t>
            </a:r>
            <a:r>
              <a:rPr lang="en-US" sz="2000" b="0" i="0" u="none" strike="noStrike">
                <a:solidFill>
                  <a:srgbClr val="2C2C2C"/>
                </a:solidFill>
                <a:latin typeface="Pretendard Bold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Bold"/>
              </a:rPr>
              <a:t>설정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10700" y="2133600"/>
            <a:ext cx="56642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05.01~05.12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34300" y="2146300"/>
            <a:ext cx="15875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Bold"/>
              </a:rPr>
              <a:t>실험</a:t>
            </a:r>
            <a:r>
              <a:rPr lang="en-US" sz="2000" b="0" i="0" u="none" strike="noStrike">
                <a:solidFill>
                  <a:srgbClr val="2C2C2C"/>
                </a:solidFill>
                <a:latin typeface="Pretendard Bold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Bold"/>
              </a:rPr>
              <a:t>기간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505700" y="1435100"/>
            <a:ext cx="25908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2C2C2C"/>
                </a:solidFill>
                <a:ea typeface="Pretendard Bold"/>
              </a:rPr>
              <a:t>실험내용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이곳에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0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분기에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진행한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실험을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소개해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주세요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.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해당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실험을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통해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검증한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내용을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요약해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주세요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74800" y="2933700"/>
            <a:ext cx="33655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>
                <a:solidFill>
                  <a:srgbClr val="207CD7"/>
                </a:solidFill>
                <a:latin typeface="Pretendard Bold"/>
              </a:rPr>
              <a:t>Q0 Experimental Matters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24000" y="927100"/>
            <a:ext cx="3517900" cy="198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6000" dirty="0">
                <a:solidFill>
                  <a:srgbClr val="2C2C2C"/>
                </a:solidFill>
                <a:latin typeface="Pretendard ExtraBold"/>
                <a:ea typeface="Pretendard ExtraBold"/>
              </a:rPr>
              <a:t>IDEATE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200" y="8382000"/>
            <a:ext cx="10490200" cy="863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200" y="7454900"/>
            <a:ext cx="10490200" cy="863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200" y="6527800"/>
            <a:ext cx="10490200" cy="863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200" y="5588000"/>
            <a:ext cx="10490200" cy="863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0200" y="4622800"/>
            <a:ext cx="10490200" cy="863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79500" y="1993900"/>
            <a:ext cx="3416300" cy="2273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8900" y="1993900"/>
            <a:ext cx="3416300" cy="2273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8300" y="1993900"/>
            <a:ext cx="3416300" cy="2273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1000" y="1028700"/>
            <a:ext cx="10490200" cy="863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325100" y="8585200"/>
            <a:ext cx="32004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>
                <a:solidFill>
                  <a:srgbClr val="2C2C2C"/>
                </a:solidFill>
                <a:latin typeface="Pretendard Bold"/>
              </a:rPr>
              <a:t>0</a:t>
            </a:r>
            <a:r>
              <a:rPr lang="ko-KR" sz="2800" b="0" i="0" u="none" strike="noStrike">
                <a:solidFill>
                  <a:srgbClr val="2C2C2C"/>
                </a:solidFill>
                <a:ea typeface="Pretendard Bold"/>
              </a:rPr>
              <a:t>분기</a:t>
            </a:r>
            <a:r>
              <a:rPr lang="en-US" sz="2800" b="0" i="0" u="none" strike="noStrike">
                <a:solidFill>
                  <a:srgbClr val="2C2C2C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Bold"/>
              </a:rPr>
              <a:t>업무</a:t>
            </a:r>
            <a:r>
              <a:rPr lang="en-US" sz="2800" b="0" i="0" u="none" strike="noStrike">
                <a:solidFill>
                  <a:srgbClr val="2C2C2C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Bold"/>
              </a:rPr>
              <a:t>성과</a:t>
            </a:r>
            <a:r>
              <a:rPr lang="en-US" sz="2800" b="0" i="0" u="none" strike="noStrike">
                <a:solidFill>
                  <a:srgbClr val="2C2C2C"/>
                </a:solidFill>
                <a:latin typeface="Pretendard Bold"/>
              </a:rPr>
              <a:t> 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25100" y="7645400"/>
            <a:ext cx="32004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>
                <a:solidFill>
                  <a:srgbClr val="2C2C2C"/>
                </a:solidFill>
                <a:latin typeface="Pretendard Bold"/>
              </a:rPr>
              <a:t>0</a:t>
            </a:r>
            <a:r>
              <a:rPr lang="ko-KR" sz="2800" b="0" i="0" u="none" strike="noStrike">
                <a:solidFill>
                  <a:srgbClr val="2C2C2C"/>
                </a:solidFill>
                <a:ea typeface="Pretendard Bold"/>
              </a:rPr>
              <a:t>분기</a:t>
            </a:r>
            <a:r>
              <a:rPr lang="en-US" sz="2800" b="0" i="0" u="none" strike="noStrike">
                <a:solidFill>
                  <a:srgbClr val="2C2C2C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Bold"/>
              </a:rPr>
              <a:t>업무</a:t>
            </a:r>
            <a:r>
              <a:rPr lang="en-US" sz="2800" b="0" i="0" u="none" strike="noStrike">
                <a:solidFill>
                  <a:srgbClr val="2C2C2C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Bold"/>
              </a:rPr>
              <a:t>성과</a:t>
            </a:r>
            <a:r>
              <a:rPr lang="en-US" sz="2800" b="0" i="0" u="none" strike="noStrike">
                <a:solidFill>
                  <a:srgbClr val="2C2C2C"/>
                </a:solidFill>
                <a:latin typeface="Pretendard Bold"/>
              </a:rPr>
              <a:t> 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25100" y="6718300"/>
            <a:ext cx="32004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>
                <a:solidFill>
                  <a:srgbClr val="2C2C2C"/>
                </a:solidFill>
                <a:latin typeface="Pretendard Bold"/>
              </a:rPr>
              <a:t>0</a:t>
            </a:r>
            <a:r>
              <a:rPr lang="ko-KR" sz="2800" b="0" i="0" u="none" strike="noStrike">
                <a:solidFill>
                  <a:srgbClr val="2C2C2C"/>
                </a:solidFill>
                <a:ea typeface="Pretendard Bold"/>
              </a:rPr>
              <a:t>분기</a:t>
            </a:r>
            <a:r>
              <a:rPr lang="en-US" sz="2800" b="0" i="0" u="none" strike="noStrike">
                <a:solidFill>
                  <a:srgbClr val="2C2C2C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Bold"/>
              </a:rPr>
              <a:t>업무</a:t>
            </a:r>
            <a:r>
              <a:rPr lang="en-US" sz="2800" b="0" i="0" u="none" strike="noStrike">
                <a:solidFill>
                  <a:srgbClr val="2C2C2C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Bold"/>
              </a:rPr>
              <a:t>성과</a:t>
            </a:r>
            <a:r>
              <a:rPr lang="en-US" sz="2800" b="0" i="0" u="none" strike="noStrike">
                <a:solidFill>
                  <a:srgbClr val="2C2C2C"/>
                </a:solidFill>
                <a:latin typeface="Pretendard Bold"/>
              </a:rPr>
              <a:t> 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25100" y="5791200"/>
            <a:ext cx="32004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>
                <a:solidFill>
                  <a:srgbClr val="2C2C2C"/>
                </a:solidFill>
                <a:latin typeface="Pretendard Bold"/>
              </a:rPr>
              <a:t>0</a:t>
            </a:r>
            <a:r>
              <a:rPr lang="ko-KR" sz="2800" b="0" i="0" u="none" strike="noStrike">
                <a:solidFill>
                  <a:srgbClr val="2C2C2C"/>
                </a:solidFill>
                <a:ea typeface="Pretendard Bold"/>
              </a:rPr>
              <a:t>분기</a:t>
            </a:r>
            <a:r>
              <a:rPr lang="en-US" sz="2800" b="0" i="0" u="none" strike="noStrike">
                <a:solidFill>
                  <a:srgbClr val="2C2C2C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Bold"/>
              </a:rPr>
              <a:t>업무</a:t>
            </a:r>
            <a:r>
              <a:rPr lang="en-US" sz="2800" b="0" i="0" u="none" strike="noStrike">
                <a:solidFill>
                  <a:srgbClr val="2C2C2C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Bold"/>
              </a:rPr>
              <a:t>성과</a:t>
            </a:r>
            <a:r>
              <a:rPr lang="en-US" sz="2800" b="0" i="0" u="none" strike="noStrike">
                <a:solidFill>
                  <a:srgbClr val="2C2C2C"/>
                </a:solidFill>
                <a:latin typeface="Pretendard Bold"/>
              </a:rPr>
              <a:t> 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63200" y="4826000"/>
            <a:ext cx="32004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2800" b="0" i="0" u="none" strike="noStrike">
                <a:solidFill>
                  <a:srgbClr val="FFFFFF"/>
                </a:solidFill>
                <a:ea typeface="Pretendard Bold"/>
              </a:rPr>
              <a:t>성과</a:t>
            </a:r>
            <a:r>
              <a:rPr lang="en-US" sz="28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FFFFFF"/>
                </a:solidFill>
                <a:ea typeface="Pretendard Bold"/>
              </a:rPr>
              <a:t>항목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084300" y="2921000"/>
            <a:ext cx="2819400" cy="812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4600" b="0" i="0" u="none" strike="noStrike">
                <a:solidFill>
                  <a:srgbClr val="207CD7"/>
                </a:solidFill>
                <a:latin typeface="Pretendard Bold"/>
              </a:rPr>
              <a:t>00</a:t>
            </a:r>
            <a:r>
              <a:rPr lang="en-US" sz="2800" b="0" i="0" u="none" strike="noStrike">
                <a:solidFill>
                  <a:srgbClr val="207CD7"/>
                </a:solidFill>
                <a:latin typeface="Pretendard Bold"/>
              </a:rPr>
              <a:t>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109700" y="2527300"/>
            <a:ext cx="27686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ko-KR" sz="2200" b="0" i="0" u="none" strike="noStrike">
                <a:solidFill>
                  <a:srgbClr val="2C2C2C"/>
                </a:solidFill>
                <a:ea typeface="Pretendard Bold"/>
              </a:rPr>
              <a:t>신규고객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553700" y="2921000"/>
            <a:ext cx="2819400" cy="812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4600" b="0" i="0" u="none" strike="noStrike">
                <a:solidFill>
                  <a:srgbClr val="207CD7"/>
                </a:solidFill>
                <a:latin typeface="Pretendard Bold"/>
              </a:rPr>
              <a:t>00</a:t>
            </a:r>
            <a:r>
              <a:rPr lang="en-US" sz="2800" b="0" i="0" u="none" strike="noStrike">
                <a:solidFill>
                  <a:srgbClr val="207CD7"/>
                </a:solidFill>
                <a:latin typeface="Pretendard Bold"/>
              </a:rPr>
              <a:t>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579100" y="2527300"/>
            <a:ext cx="27686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ko-KR" sz="2200" b="0" i="0" u="none" strike="noStrike">
                <a:solidFill>
                  <a:srgbClr val="2C2C2C"/>
                </a:solidFill>
                <a:ea typeface="Pretendard Bold"/>
              </a:rPr>
              <a:t>유료전환율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10400" y="2921000"/>
            <a:ext cx="2819400" cy="812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4600" b="0" i="0" u="none" strike="noStrike">
                <a:solidFill>
                  <a:srgbClr val="207CD7"/>
                </a:solidFill>
                <a:latin typeface="Pretendard Bold"/>
              </a:rPr>
              <a:t>00,000</a:t>
            </a:r>
            <a:r>
              <a:rPr lang="ko-KR" sz="2800" b="0" i="0" u="none" strike="noStrike">
                <a:solidFill>
                  <a:srgbClr val="207CD7"/>
                </a:solidFill>
                <a:ea typeface="Pretendard Bold"/>
              </a:rPr>
              <a:t>명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035800" y="2527300"/>
            <a:ext cx="27686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ko-KR" sz="2200" b="0" i="0" u="none" strike="noStrike">
                <a:solidFill>
                  <a:srgbClr val="2C2C2C"/>
                </a:solidFill>
                <a:ea typeface="Pretendard Bold"/>
              </a:rPr>
              <a:t>신규고객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63200" y="1231900"/>
            <a:ext cx="32004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2800" b="0" i="0" u="none" strike="noStrike">
                <a:solidFill>
                  <a:srgbClr val="FFFFFF"/>
                </a:solidFill>
                <a:ea typeface="Pretendard Bold"/>
              </a:rPr>
              <a:t>사업</a:t>
            </a:r>
            <a:r>
              <a:rPr lang="en-US" sz="28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FFFFFF"/>
                </a:solidFill>
                <a:ea typeface="Pretendard Bold"/>
              </a:rPr>
              <a:t>성과</a:t>
            </a:r>
            <a:r>
              <a:rPr lang="en-US" sz="2800" b="0" i="0" u="none" strike="noStrike">
                <a:solidFill>
                  <a:srgbClr val="FFFFFF"/>
                </a:solidFill>
                <a:latin typeface="Pretendard Bold"/>
              </a:rPr>
              <a:t> 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이곳에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0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분기에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진행한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실험을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소개해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주세요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.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해당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실험을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통해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검증한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내용을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요약해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주세요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74800" y="2933700"/>
            <a:ext cx="36195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>
                <a:solidFill>
                  <a:srgbClr val="207CD7"/>
                </a:solidFill>
                <a:latin typeface="Pretendard Bold"/>
              </a:rPr>
              <a:t>Q0 Summary of performance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4126" y="927826"/>
            <a:ext cx="4711699" cy="198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 dirty="0">
                <a:solidFill>
                  <a:srgbClr val="2C2C2C"/>
                </a:solidFill>
                <a:latin typeface="Pretendard ExtraBold"/>
              </a:rPr>
              <a:t>PROTOTYPE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6591300"/>
            <a:ext cx="10490200" cy="2679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121900" y="8712200"/>
            <a:ext cx="292100" cy="3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121900" y="8204200"/>
            <a:ext cx="292100" cy="3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121900" y="7696200"/>
            <a:ext cx="292100" cy="3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788400" y="7912100"/>
            <a:ext cx="19431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8300" y="2070100"/>
            <a:ext cx="10426700" cy="4165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1092200"/>
            <a:ext cx="10490200" cy="838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1252200" y="8559800"/>
            <a:ext cx="49657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성과에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대한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설명을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적어주세요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39400" y="8559800"/>
            <a:ext cx="7493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Bold"/>
              </a:rPr>
              <a:t>성과</a:t>
            </a:r>
            <a:r>
              <a:rPr lang="en-US" sz="2000" b="0" i="0" u="none" strike="noStrike">
                <a:solidFill>
                  <a:srgbClr val="2C2C2C"/>
                </a:solidFill>
                <a:latin typeface="Pretendard Bold"/>
              </a:rPr>
              <a:t>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252200" y="8051800"/>
            <a:ext cx="49657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설정한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목표를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달성했다는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성과를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어필해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주세요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39400" y="8051800"/>
            <a:ext cx="7493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Bold"/>
              </a:rPr>
              <a:t>성과</a:t>
            </a:r>
            <a:r>
              <a:rPr lang="en-US" sz="2000" b="0" i="0" u="none" strike="noStrike">
                <a:solidFill>
                  <a:srgbClr val="2C2C2C"/>
                </a:solidFill>
                <a:latin typeface="Pretendard Bold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52200" y="7543800"/>
            <a:ext cx="49657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이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페이지는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성과를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보여주는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페이지입니다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39400" y="7556500"/>
            <a:ext cx="7493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Bold"/>
              </a:rPr>
              <a:t>성과</a:t>
            </a:r>
            <a:r>
              <a:rPr lang="en-US" sz="2000" b="0" i="0" u="none" strike="noStrike">
                <a:solidFill>
                  <a:srgbClr val="2C2C2C"/>
                </a:solidFill>
                <a:latin typeface="Pretendard Bold"/>
              </a:rPr>
              <a:t>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48900" y="6959600"/>
            <a:ext cx="59690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이곳에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위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그래프를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설명해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보세요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51700" y="6972300"/>
            <a:ext cx="21336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2C2C2C"/>
                </a:solidFill>
                <a:ea typeface="Pretendard Bold"/>
              </a:rPr>
              <a:t>분기</a:t>
            </a:r>
            <a:r>
              <a:rPr lang="en-US" sz="2800" b="0" i="0" u="none" strike="noStrike">
                <a:solidFill>
                  <a:srgbClr val="2C2C2C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Bold"/>
              </a:rPr>
              <a:t>성과</a:t>
            </a:r>
            <a:r>
              <a:rPr lang="en-US" sz="2800" b="0" i="0" u="none" strike="noStrike">
                <a:solidFill>
                  <a:srgbClr val="2C2C2C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Bold"/>
              </a:rPr>
              <a:t>내용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63200" y="1282700"/>
            <a:ext cx="32004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>
                <a:solidFill>
                  <a:srgbClr val="FFFFFF"/>
                </a:solidFill>
                <a:latin typeface="Pretendard Bold"/>
              </a:rPr>
              <a:t>X</a:t>
            </a:r>
            <a:r>
              <a:rPr lang="ko-KR" sz="2800" b="0" i="0" u="none" strike="noStrike">
                <a:solidFill>
                  <a:srgbClr val="FFFFFF"/>
                </a:solidFill>
                <a:ea typeface="Pretendard Bold"/>
              </a:rPr>
              <a:t>분기</a:t>
            </a:r>
            <a:r>
              <a:rPr lang="en-US" sz="28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FFFFFF"/>
                </a:solidFill>
                <a:ea typeface="Pretendard Bold"/>
              </a:rPr>
              <a:t>성과</a:t>
            </a:r>
            <a:r>
              <a:rPr lang="en-US" sz="28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FFFFFF"/>
                </a:solidFill>
                <a:ea typeface="Pretendard Bold"/>
              </a:rPr>
              <a:t>비교</a:t>
            </a:r>
            <a:r>
              <a:rPr lang="en-US" sz="28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FFFFFF"/>
                </a:solidFill>
                <a:ea typeface="Pretendard Bold"/>
              </a:rPr>
              <a:t>분석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24000" y="4013200"/>
            <a:ext cx="34163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이곳에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해당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분기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성과나</a:t>
            </a:r>
          </a:p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변경사항을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요약해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주세요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24000" y="927100"/>
            <a:ext cx="3517900" cy="198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6000" b="0" i="0" u="none" strike="noStrike" dirty="0">
                <a:solidFill>
                  <a:srgbClr val="2C2C2C"/>
                </a:solidFill>
                <a:latin typeface="Pretendard ExtraBold" panose="020B0600000101010101" charset="-127"/>
                <a:ea typeface="Pretendard ExtraBold" panose="020B0600000101010101" charset="-127"/>
              </a:rPr>
              <a:t>TEST</a:t>
            </a:r>
            <a:endParaRPr lang="ko-KR" sz="6000" b="0" i="0" u="none" strike="noStrike" dirty="0">
              <a:solidFill>
                <a:srgbClr val="2C2C2C"/>
              </a:solidFill>
              <a:latin typeface="Pretendard ExtraBold" panose="020B0600000101010101" charset="-127"/>
              <a:ea typeface="Pretendard ExtraBold" panose="020B0600000101010101" charset="-127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574800" y="2933700"/>
            <a:ext cx="36195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>
                <a:solidFill>
                  <a:srgbClr val="207CD7"/>
                </a:solidFill>
                <a:latin typeface="Pretendard Bold"/>
              </a:rPr>
              <a:t>Q0 Summary of performance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7975600"/>
            <a:ext cx="8229600" cy="952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6908800"/>
            <a:ext cx="8229600" cy="952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5854700"/>
            <a:ext cx="8229600" cy="95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8300" y="5854700"/>
            <a:ext cx="2108200" cy="3086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11277600" y="4660900"/>
            <a:ext cx="1346200" cy="97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3479800"/>
            <a:ext cx="8229600" cy="952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2413000"/>
            <a:ext cx="8229600" cy="952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1346200"/>
            <a:ext cx="8229600" cy="952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8300" y="1346200"/>
            <a:ext cx="2108200" cy="3086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490200" y="8216900"/>
            <a:ext cx="64897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sz="2800" b="0" i="0" u="none" strike="noStrike">
                <a:solidFill>
                  <a:srgbClr val="2C2C2C"/>
                </a:solidFill>
                <a:ea typeface="Pretendard Regular"/>
              </a:rPr>
              <a:t>수치도</a:t>
            </a:r>
            <a:r>
              <a:rPr lang="en-US" sz="28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Regular"/>
              </a:rPr>
              <a:t>함께</a:t>
            </a:r>
            <a:r>
              <a:rPr lang="en-US" sz="28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Regular"/>
              </a:rPr>
              <a:t>쓰면</a:t>
            </a:r>
            <a:r>
              <a:rPr lang="en-US" sz="28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Regular"/>
              </a:rPr>
              <a:t>더욱</a:t>
            </a:r>
            <a:r>
              <a:rPr lang="en-US" sz="28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Regular"/>
              </a:rPr>
              <a:t>효과적입니다</a:t>
            </a:r>
            <a:r>
              <a:rPr lang="en-US" sz="2800" b="0" i="0" u="none" strike="noStrike">
                <a:solidFill>
                  <a:srgbClr val="2C2C2C"/>
                </a:solidFill>
                <a:latin typeface="Pretendard Regular"/>
              </a:rPr>
              <a:t>. 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283700" y="8229600"/>
            <a:ext cx="12319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207CD7"/>
                </a:solidFill>
                <a:ea typeface="Pretendard Bold"/>
              </a:rPr>
              <a:t>개선</a:t>
            </a:r>
            <a:r>
              <a:rPr lang="en-US" sz="2800" b="0" i="0" u="none" strike="noStrike">
                <a:solidFill>
                  <a:srgbClr val="207CD7"/>
                </a:solidFill>
                <a:latin typeface="Pretendard Bold"/>
              </a:rPr>
              <a:t> 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90200" y="7162800"/>
            <a:ext cx="64897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sz="2800" b="0" i="0" u="none" strike="noStrike">
                <a:solidFill>
                  <a:srgbClr val="2C2C2C"/>
                </a:solidFill>
                <a:ea typeface="Pretendard Regular"/>
              </a:rPr>
              <a:t>구체적인</a:t>
            </a:r>
            <a:r>
              <a:rPr lang="en-US" sz="28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Regular"/>
              </a:rPr>
              <a:t>전략을</a:t>
            </a:r>
            <a:r>
              <a:rPr lang="en-US" sz="28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Regular"/>
              </a:rPr>
              <a:t>작성해</a:t>
            </a:r>
            <a:r>
              <a:rPr lang="en-US" sz="28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Regular"/>
              </a:rPr>
              <a:t>주세요</a:t>
            </a:r>
            <a:r>
              <a:rPr lang="en-US" sz="2800" b="0" i="0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83700" y="7162800"/>
            <a:ext cx="12319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207CD7"/>
                </a:solidFill>
                <a:ea typeface="Pretendard Bold"/>
              </a:rPr>
              <a:t>개선</a:t>
            </a:r>
            <a:r>
              <a:rPr lang="en-US" sz="2800" b="0" i="0" u="none" strike="noStrike">
                <a:solidFill>
                  <a:srgbClr val="207CD7"/>
                </a:solidFill>
                <a:latin typeface="Pretendard Bold"/>
              </a:rPr>
              <a:t> 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490200" y="6096000"/>
            <a:ext cx="64897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sz="2800" b="0" i="0" u="none" strike="noStrike">
                <a:solidFill>
                  <a:srgbClr val="2C2C2C"/>
                </a:solidFill>
                <a:ea typeface="Pretendard Regular"/>
              </a:rPr>
              <a:t>다음</a:t>
            </a:r>
            <a:r>
              <a:rPr lang="en-US" sz="28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Regular"/>
              </a:rPr>
              <a:t>분기</a:t>
            </a:r>
            <a:r>
              <a:rPr lang="en-US" sz="28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Regular"/>
              </a:rPr>
              <a:t>개선</a:t>
            </a:r>
            <a:r>
              <a:rPr lang="en-US" sz="28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Regular"/>
              </a:rPr>
              <a:t>사항을</a:t>
            </a:r>
            <a:r>
              <a:rPr lang="en-US" sz="28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Regular"/>
              </a:rPr>
              <a:t>입력해</a:t>
            </a:r>
            <a:r>
              <a:rPr lang="en-US" sz="28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Regular"/>
              </a:rPr>
              <a:t>주세요</a:t>
            </a:r>
            <a:r>
              <a:rPr lang="en-US" sz="2800" b="0" i="0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83700" y="6096000"/>
            <a:ext cx="12319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207CD7"/>
                </a:solidFill>
                <a:ea typeface="Pretendard Bold"/>
              </a:rPr>
              <a:t>개선</a:t>
            </a:r>
            <a:r>
              <a:rPr lang="en-US" sz="2800" b="0" i="0" u="none" strike="noStrike">
                <a:solidFill>
                  <a:srgbClr val="207CD7"/>
                </a:solidFill>
                <a:latin typeface="Pretendard Bold"/>
              </a:rPr>
              <a:t> 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921500" y="7150100"/>
            <a:ext cx="17018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FFFFFF"/>
                </a:solidFill>
                <a:ea typeface="Pretendard Bold"/>
              </a:rPr>
              <a:t>개선</a:t>
            </a:r>
            <a:r>
              <a:rPr lang="en-US" sz="28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FFFFFF"/>
                </a:solidFill>
                <a:ea typeface="Pretendard Bold"/>
              </a:rPr>
              <a:t>사항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490200" y="3721100"/>
            <a:ext cx="64897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sz="2800" b="0" i="0" u="none" strike="noStrike">
                <a:solidFill>
                  <a:srgbClr val="2C2C2C"/>
                </a:solidFill>
                <a:ea typeface="Pretendard Regular"/>
              </a:rPr>
              <a:t>이슈의</a:t>
            </a:r>
            <a:r>
              <a:rPr lang="en-US" sz="28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Regular"/>
              </a:rPr>
              <a:t>원인을</a:t>
            </a:r>
            <a:r>
              <a:rPr lang="en-US" sz="28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Regular"/>
              </a:rPr>
              <a:t>분석해</a:t>
            </a:r>
            <a:r>
              <a:rPr lang="en-US" sz="28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Regular"/>
              </a:rPr>
              <a:t>정리해</a:t>
            </a:r>
            <a:r>
              <a:rPr lang="en-US" sz="28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Regular"/>
              </a:rPr>
              <a:t>주세요</a:t>
            </a:r>
            <a:r>
              <a:rPr lang="en-US" sz="2800" b="0" i="0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283700" y="3721100"/>
            <a:ext cx="12319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889EB4"/>
                </a:solidFill>
                <a:ea typeface="Pretendard Bold"/>
              </a:rPr>
              <a:t>이슈</a:t>
            </a:r>
            <a:r>
              <a:rPr lang="en-US" sz="2800" b="0" i="0" u="none" strike="noStrike">
                <a:solidFill>
                  <a:srgbClr val="889EB4"/>
                </a:solidFill>
                <a:latin typeface="Pretendard Bold"/>
              </a:rPr>
              <a:t> 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490200" y="2654300"/>
            <a:ext cx="64897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sz="2800" b="0" i="0" u="none" strike="noStrike">
                <a:solidFill>
                  <a:srgbClr val="2C2C2C"/>
                </a:solidFill>
                <a:ea typeface="Pretendard Regular"/>
              </a:rPr>
              <a:t>운영</a:t>
            </a:r>
            <a:r>
              <a:rPr lang="en-US" sz="28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Regular"/>
              </a:rPr>
              <a:t>중</a:t>
            </a:r>
            <a:r>
              <a:rPr lang="en-US" sz="28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Regular"/>
              </a:rPr>
              <a:t>문제점을</a:t>
            </a:r>
            <a:r>
              <a:rPr lang="en-US" sz="28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Regular"/>
              </a:rPr>
              <a:t>입력해</a:t>
            </a:r>
            <a:r>
              <a:rPr lang="en-US" sz="28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Regular"/>
              </a:rPr>
              <a:t>주세요</a:t>
            </a:r>
            <a:r>
              <a:rPr lang="en-US" sz="2800" b="0" i="0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283700" y="2654300"/>
            <a:ext cx="12319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889EB4"/>
                </a:solidFill>
                <a:ea typeface="Pretendard Bold"/>
              </a:rPr>
              <a:t>이슈</a:t>
            </a:r>
            <a:r>
              <a:rPr lang="en-US" sz="2800" b="0" i="0" u="none" strike="noStrike">
                <a:solidFill>
                  <a:srgbClr val="889EB4"/>
                </a:solidFill>
                <a:latin typeface="Pretendard Bold"/>
              </a:rPr>
              <a:t> 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490200" y="1587500"/>
            <a:ext cx="64897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sz="2800" b="0" i="0" u="none" strike="noStrike">
                <a:solidFill>
                  <a:srgbClr val="2C2C2C"/>
                </a:solidFill>
                <a:ea typeface="Pretendard Regular"/>
              </a:rPr>
              <a:t>이곳에</a:t>
            </a:r>
            <a:r>
              <a:rPr lang="en-US" sz="28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Regular"/>
              </a:rPr>
              <a:t>이번</a:t>
            </a:r>
            <a:r>
              <a:rPr lang="en-US" sz="28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Regular"/>
              </a:rPr>
              <a:t>분기</a:t>
            </a:r>
            <a:r>
              <a:rPr lang="en-US" sz="28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Regular"/>
              </a:rPr>
              <a:t>주요</a:t>
            </a:r>
            <a:r>
              <a:rPr lang="en-US" sz="28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Regular"/>
              </a:rPr>
              <a:t>이슈를</a:t>
            </a:r>
            <a:r>
              <a:rPr lang="en-US" sz="28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800" b="0" i="0" u="none" strike="noStrike">
                <a:solidFill>
                  <a:srgbClr val="2C2C2C"/>
                </a:solidFill>
                <a:ea typeface="Pretendard Regular"/>
              </a:rPr>
              <a:t>적어주세요</a:t>
            </a:r>
            <a:r>
              <a:rPr lang="en-US" sz="2800" b="0" i="0" u="none" strike="noStrike">
                <a:solidFill>
                  <a:srgbClr val="2C2C2C"/>
                </a:solidFill>
                <a:latin typeface="Pretendard Regular"/>
              </a:rPr>
              <a:t>. 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283700" y="1600200"/>
            <a:ext cx="12319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889EB4"/>
                </a:solidFill>
                <a:ea typeface="Pretendard Bold"/>
              </a:rPr>
              <a:t>이슈</a:t>
            </a:r>
            <a:r>
              <a:rPr lang="en-US" sz="2800" b="0" i="0" u="none" strike="noStrike">
                <a:solidFill>
                  <a:srgbClr val="889EB4"/>
                </a:solidFill>
                <a:latin typeface="Pretendard Bold"/>
              </a:rPr>
              <a:t> 1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921500" y="2654300"/>
            <a:ext cx="17018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FFFFFF"/>
                </a:solidFill>
                <a:ea typeface="Pretendard Bold"/>
              </a:rPr>
              <a:t>주요</a:t>
            </a:r>
            <a:r>
              <a:rPr lang="en-US" sz="28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FFFFFF"/>
                </a:solidFill>
                <a:ea typeface="Pretendard Bold"/>
              </a:rPr>
              <a:t>이슈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이곳에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프로젝트에서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발생한</a:t>
            </a:r>
          </a:p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주요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이슈들과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그에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따른</a:t>
            </a:r>
          </a:p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배울점을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요약해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보세요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74800" y="2933700"/>
            <a:ext cx="36195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>
                <a:solidFill>
                  <a:srgbClr val="207CD7"/>
                </a:solidFill>
                <a:latin typeface="Pretendard Bold"/>
              </a:rPr>
              <a:t>Q0 Summary of performance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24000" y="927100"/>
            <a:ext cx="3683000" cy="198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6000" b="0" i="0" u="none" strike="noStrike">
                <a:solidFill>
                  <a:srgbClr val="2C2C2C"/>
                </a:solidFill>
                <a:ea typeface="Pretendard ExtraBold"/>
              </a:rPr>
              <a:t>주요</a:t>
            </a:r>
          </a:p>
          <a:p>
            <a:pPr lvl="0" algn="l">
              <a:lnSpc>
                <a:spcPct val="99600"/>
              </a:lnSpc>
            </a:pPr>
            <a:r>
              <a:rPr lang="ko-KR" sz="6000" b="0" i="0" u="none" strike="noStrike">
                <a:solidFill>
                  <a:srgbClr val="2C2C2C"/>
                </a:solidFill>
                <a:ea typeface="Pretendard ExtraBold"/>
              </a:rPr>
              <a:t>레슨런</a:t>
            </a:r>
            <a:r>
              <a:rPr lang="en-US" sz="6000" b="0" i="0" u="none" strike="noStrike">
                <a:solidFill>
                  <a:srgbClr val="2C2C2C"/>
                </a:solidFill>
                <a:latin typeface="Pretendard ExtraBold"/>
              </a:rPr>
              <a:t> </a:t>
            </a:r>
            <a:r>
              <a:rPr lang="ko-KR" sz="6000" b="0" i="0" u="none" strike="noStrike">
                <a:solidFill>
                  <a:srgbClr val="2C2C2C"/>
                </a:solidFill>
                <a:ea typeface="Pretendard ExtraBold"/>
              </a:rPr>
              <a:t>공유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0" y="78359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4600" y="7950200"/>
            <a:ext cx="8470900" cy="1143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5900" y="6502400"/>
            <a:ext cx="8470900" cy="1143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0" y="6400800"/>
            <a:ext cx="749300" cy="749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5397500"/>
            <a:ext cx="1536700" cy="723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0" y="3479800"/>
            <a:ext cx="762000" cy="762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4600" y="3594100"/>
            <a:ext cx="8470900" cy="1143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5900" y="2146300"/>
            <a:ext cx="8470900" cy="1143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0" y="2044700"/>
            <a:ext cx="749300" cy="749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1041400"/>
            <a:ext cx="1536700" cy="723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8813800" y="8280400"/>
            <a:ext cx="66802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sz="2900" b="0" i="0" u="none" strike="noStrike">
                <a:solidFill>
                  <a:srgbClr val="2C2C2C"/>
                </a:solidFill>
                <a:ea typeface="Pretendard Regular"/>
              </a:rPr>
              <a:t>이곳에</a:t>
            </a:r>
            <a:r>
              <a:rPr lang="en-US" sz="29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900" b="0" i="0" u="none" strike="noStrike">
                <a:solidFill>
                  <a:srgbClr val="2C2C2C"/>
                </a:solidFill>
                <a:ea typeface="Pretendard Regular"/>
              </a:rPr>
              <a:t>답변을</a:t>
            </a:r>
            <a:r>
              <a:rPr lang="en-US" sz="29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900" b="0" i="0" u="none" strike="noStrike">
                <a:solidFill>
                  <a:srgbClr val="2C2C2C"/>
                </a:solidFill>
                <a:ea typeface="Pretendard Regular"/>
              </a:rPr>
              <a:t>입력해주세요</a:t>
            </a:r>
            <a:r>
              <a:rPr lang="en-US" sz="2900" b="0" i="0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02600" y="8191500"/>
            <a:ext cx="6350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00" b="0" i="0" u="none" strike="noStrike">
                <a:solidFill>
                  <a:srgbClr val="207CD7"/>
                </a:solidFill>
                <a:latin typeface="Pretendard Bold"/>
              </a:rPr>
              <a:t>A.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71000" y="6832600"/>
            <a:ext cx="61087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sz="2900" b="0" i="0" u="none" strike="noStrike">
                <a:solidFill>
                  <a:srgbClr val="6387AB"/>
                </a:solidFill>
                <a:ea typeface="Pretendard Regular"/>
              </a:rPr>
              <a:t>이곳에</a:t>
            </a:r>
            <a:r>
              <a:rPr lang="en-US" sz="2900" b="0" i="0" u="none" strike="noStrike">
                <a:solidFill>
                  <a:srgbClr val="6387AB"/>
                </a:solidFill>
                <a:latin typeface="Pretendard Regular"/>
              </a:rPr>
              <a:t> </a:t>
            </a:r>
            <a:r>
              <a:rPr lang="ko-KR" sz="2900" b="0" i="0" u="none" strike="noStrike">
                <a:solidFill>
                  <a:srgbClr val="6387AB"/>
                </a:solidFill>
                <a:ea typeface="Pretendard Regular"/>
              </a:rPr>
              <a:t>질문을</a:t>
            </a:r>
            <a:r>
              <a:rPr lang="en-US" sz="2900" b="0" i="0" u="none" strike="noStrike">
                <a:solidFill>
                  <a:srgbClr val="6387AB"/>
                </a:solidFill>
                <a:latin typeface="Pretendard Regular"/>
              </a:rPr>
              <a:t> </a:t>
            </a:r>
            <a:r>
              <a:rPr lang="ko-KR" sz="2900" b="0" i="0" u="none" strike="noStrike">
                <a:solidFill>
                  <a:srgbClr val="6387AB"/>
                </a:solidFill>
                <a:ea typeface="Pretendard Regular"/>
              </a:rPr>
              <a:t>입력해주세요</a:t>
            </a:r>
            <a:r>
              <a:rPr lang="en-US" sz="2900" b="0" i="0" u="none" strike="noStrike">
                <a:solidFill>
                  <a:srgbClr val="6387AB"/>
                </a:solidFill>
                <a:latin typeface="Pretendard Regular"/>
              </a:rPr>
              <a:t>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59800" y="6743700"/>
            <a:ext cx="6350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00" b="0" i="0" u="none" strike="noStrike">
                <a:solidFill>
                  <a:srgbClr val="6387AB"/>
                </a:solidFill>
                <a:latin typeface="Pretendard Bold"/>
              </a:rPr>
              <a:t>Q.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59600" y="5537200"/>
            <a:ext cx="10795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207CD7"/>
                </a:solidFill>
                <a:ea typeface="Pretendard Bold"/>
              </a:rPr>
              <a:t>질문</a:t>
            </a:r>
            <a:r>
              <a:rPr lang="en-US" sz="2800" b="0" i="0" u="none" strike="noStrike">
                <a:solidFill>
                  <a:srgbClr val="207CD7"/>
                </a:solidFill>
                <a:latin typeface="Pretendard Bold"/>
              </a:rPr>
              <a:t> 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13800" y="3924300"/>
            <a:ext cx="66802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sz="2900" b="0" i="0" u="none" strike="noStrike">
                <a:solidFill>
                  <a:srgbClr val="2C2C2C"/>
                </a:solidFill>
                <a:ea typeface="Pretendard Regular"/>
              </a:rPr>
              <a:t>이곳에</a:t>
            </a:r>
            <a:r>
              <a:rPr lang="en-US" sz="29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900" b="0" i="0" u="none" strike="noStrike">
                <a:solidFill>
                  <a:srgbClr val="2C2C2C"/>
                </a:solidFill>
                <a:ea typeface="Pretendard Regular"/>
              </a:rPr>
              <a:t>답변을</a:t>
            </a:r>
            <a:r>
              <a:rPr lang="en-US" sz="29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900" b="0" i="0" u="none" strike="noStrike">
                <a:solidFill>
                  <a:srgbClr val="2C2C2C"/>
                </a:solidFill>
                <a:ea typeface="Pretendard Regular"/>
              </a:rPr>
              <a:t>입력해주세요</a:t>
            </a:r>
            <a:r>
              <a:rPr lang="en-US" sz="2900" b="0" i="0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102600" y="3835400"/>
            <a:ext cx="6350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00" b="0" i="0" u="none" strike="noStrike">
                <a:solidFill>
                  <a:srgbClr val="207CD7"/>
                </a:solidFill>
                <a:latin typeface="Pretendard Bold"/>
              </a:rPr>
              <a:t>A.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271000" y="2476500"/>
            <a:ext cx="61087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sz="2900" b="0" i="0" u="none" strike="noStrike">
                <a:solidFill>
                  <a:srgbClr val="6387AB"/>
                </a:solidFill>
                <a:ea typeface="Pretendard Regular"/>
              </a:rPr>
              <a:t>이곳에</a:t>
            </a:r>
            <a:r>
              <a:rPr lang="en-US" sz="2900" b="0" i="0" u="none" strike="noStrike">
                <a:solidFill>
                  <a:srgbClr val="6387AB"/>
                </a:solidFill>
                <a:latin typeface="Pretendard Regular"/>
              </a:rPr>
              <a:t> </a:t>
            </a:r>
            <a:r>
              <a:rPr lang="ko-KR" sz="2900" b="0" i="0" u="none" strike="noStrike">
                <a:solidFill>
                  <a:srgbClr val="6387AB"/>
                </a:solidFill>
                <a:ea typeface="Pretendard Regular"/>
              </a:rPr>
              <a:t>질문을</a:t>
            </a:r>
            <a:r>
              <a:rPr lang="en-US" sz="2900" b="0" i="0" u="none" strike="noStrike">
                <a:solidFill>
                  <a:srgbClr val="6387AB"/>
                </a:solidFill>
                <a:latin typeface="Pretendard Regular"/>
              </a:rPr>
              <a:t> </a:t>
            </a:r>
            <a:r>
              <a:rPr lang="ko-KR" sz="2900" b="0" i="0" u="none" strike="noStrike">
                <a:solidFill>
                  <a:srgbClr val="6387AB"/>
                </a:solidFill>
                <a:ea typeface="Pretendard Regular"/>
              </a:rPr>
              <a:t>입력해주세요</a:t>
            </a:r>
            <a:r>
              <a:rPr lang="en-US" sz="2900" b="0" i="0" u="none" strike="noStrike">
                <a:solidFill>
                  <a:srgbClr val="6387AB"/>
                </a:solidFill>
                <a:latin typeface="Pretendard Regular"/>
              </a:rPr>
              <a:t>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59800" y="2387600"/>
            <a:ext cx="6350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00" b="0" i="0" u="none" strike="noStrike">
                <a:solidFill>
                  <a:srgbClr val="6387AB"/>
                </a:solidFill>
                <a:latin typeface="Pretendard Bold"/>
              </a:rPr>
              <a:t>Q.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959600" y="1181100"/>
            <a:ext cx="10795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207CD7"/>
                </a:solidFill>
                <a:ea typeface="Pretendard Bold"/>
              </a:rPr>
              <a:t>질문</a:t>
            </a:r>
            <a:r>
              <a:rPr lang="en-US" sz="2800" b="0" i="0" u="none" strike="noStrike">
                <a:solidFill>
                  <a:srgbClr val="207CD7"/>
                </a:solidFill>
                <a:latin typeface="Pretendard Bold"/>
              </a:rPr>
              <a:t> 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24000" y="4013200"/>
            <a:ext cx="3416300" cy="157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‘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이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수치가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맞나요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?’, ‘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회식은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언제하나요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?’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등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이번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분기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관련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다양한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질문들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환영해요</a:t>
            </a: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!</a:t>
            </a:r>
          </a:p>
          <a:p>
            <a:pPr lvl="0" algn="l">
              <a:lnSpc>
                <a:spcPct val="132800"/>
              </a:lnSpc>
            </a:pPr>
            <a:endParaRPr lang="en-US" sz="2000" b="0" i="0" u="none" strike="noStrike">
              <a:solidFill>
                <a:srgbClr val="2C2C2C"/>
              </a:solidFill>
              <a:latin typeface="Pretendard Regular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574800" y="2933700"/>
            <a:ext cx="36195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>
                <a:solidFill>
                  <a:srgbClr val="207CD7"/>
                </a:solidFill>
                <a:latin typeface="Pretendard Bold"/>
              </a:rPr>
              <a:t>Q&amp;A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24000" y="927100"/>
            <a:ext cx="3683000" cy="198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6000" b="0" i="0" u="none" strike="noStrike">
                <a:solidFill>
                  <a:srgbClr val="2C2C2C"/>
                </a:solidFill>
                <a:ea typeface="Pretendard ExtraBold"/>
              </a:rPr>
              <a:t>질의</a:t>
            </a:r>
          </a:p>
          <a:p>
            <a:pPr lvl="0" algn="l">
              <a:lnSpc>
                <a:spcPct val="99600"/>
              </a:lnSpc>
            </a:pPr>
            <a:r>
              <a:rPr lang="ko-KR" sz="6000" b="0" i="0" u="none" strike="noStrike">
                <a:solidFill>
                  <a:srgbClr val="2C2C2C"/>
                </a:solidFill>
                <a:ea typeface="Pretendard ExtraBold"/>
              </a:rPr>
              <a:t>응답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423</Words>
  <Application>Microsoft Office PowerPoint</Application>
  <PresentationFormat>사용자 지정</PresentationFormat>
  <Paragraphs>116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Pretendard Bold</vt:lpstr>
      <vt:lpstr>Pretendard ExtraBold</vt:lpstr>
      <vt:lpstr>Arial</vt:lpstr>
      <vt:lpstr>Pretendard Regular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유신 김</cp:lastModifiedBy>
  <cp:revision>5</cp:revision>
  <dcterms:created xsi:type="dcterms:W3CDTF">2006-08-16T00:00:00Z</dcterms:created>
  <dcterms:modified xsi:type="dcterms:W3CDTF">2025-05-25T11:57:58Z</dcterms:modified>
</cp:coreProperties>
</file>