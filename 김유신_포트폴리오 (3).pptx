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</p:sldIdLst>
  <p:sldSz cx="18288000" cy="10287000"/>
  <p:notesSz cx="6858000" cy="9144000"/>
  <p:embeddedFontLst>
    <p:embeddedFont>
      <p:font typeface="Pretendard Bold" panose="020B0600000101010101" charset="-127"/>
      <p:bold r:id="rId10"/>
    </p:embeddedFont>
    <p:embeddedFont>
      <p:font typeface="Pretendard ExtraBold" panose="020B0600000101010101" charset="-127"/>
      <p:bold r:id="rId11"/>
    </p:embeddedFont>
    <p:embeddedFont>
      <p:font typeface="Pretendard Regular" panose="020B0600000101010101" charset="-127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7" Type="http://schemas.openxmlformats.org/officeDocument/2006/relationships/slide" Target="slides/slide1.xml"/><Relationship Id="rId13" Type="http://schemas.openxmlformats.org/officeDocument/2006/relationships/presProps" Target="presProp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12" Type="http://schemas.openxmlformats.org/officeDocument/2006/relationships/font" Target="fonts/font3.fntdata"/><Relationship Id="rId20" Type="http://schemas.openxmlformats.org/officeDocument/2006/relationships/slide" Target="slides/slide4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1" Type="http://schemas.openxmlformats.org/officeDocument/2006/relationships/slide" Target="slides/slide5.xml"/><Relationship Id="rId11" Type="http://schemas.openxmlformats.org/officeDocument/2006/relationships/font" Target="fonts/font2.fntdata"/><Relationship Id="rId22" Type="http://schemas.openxmlformats.org/officeDocument/2006/relationships/slide" Target="slides/slide6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14" Type="http://schemas.openxmlformats.org/officeDocument/2006/relationships/viewProps" Target="viewProps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Relationship Id="rId42" Type="http://schemas.openxmlformats.org/officeDocument/2006/relationships/slide" Target="slides/slide26.xml"/><Relationship Id="rId43" Type="http://schemas.openxmlformats.org/officeDocument/2006/relationships/slide" Target="slides/slide27.xml"/><Relationship Id="rId44" Type="http://schemas.openxmlformats.org/officeDocument/2006/relationships/slide" Target="slides/slide28.xml"/><Relationship Id="rId45" Type="http://schemas.openxmlformats.org/officeDocument/2006/relationships/slide" Target="slides/slide29.xml"/><Relationship Id="rId46" Type="http://schemas.openxmlformats.org/officeDocument/2006/relationships/slide" Target="slides/slide30.xml"/><Relationship Id="rId47" Type="http://schemas.openxmlformats.org/officeDocument/2006/relationships/slide" Target="slides/slide31.xml"/><Relationship Id="rId48" Type="http://schemas.openxmlformats.org/officeDocument/2006/relationships/slide" Target="slides/slide3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/>
              <a:t/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/>
              <a:t/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/>
              <a:t/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/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/>
              <a:t/>
            </a:r>
          </a:p>
          <a:p>
            <a:pPr lvl="1"/>
            <a:r>
              <a:rPr/>
              <a:t/>
            </a:r>
          </a:p>
          <a:p>
            <a:pPr lvl="2"/>
            <a:r>
              <a:rPr/>
              <a:t/>
            </a:r>
          </a:p>
          <a:p>
            <a:pPr lvl="3"/>
            <a:r>
              <a:rPr/>
              <a:t/>
            </a:r>
          </a:p>
          <a:p>
            <a:pPr lvl="4"/>
            <a:r>
              <a:rPr/>
              <a:t/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13.png"/><Relationship Id="rId4" Type="http://schemas.openxmlformats.org/officeDocument/2006/relationships/image" Target="../media/image30.png"/><Relationship Id="rId9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13.png"/><Relationship Id="rId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14.png"/><Relationship Id="rId9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10" Type="http://schemas.openxmlformats.org/officeDocument/2006/relationships/image" Target="../media/image13.png"/><Relationship Id="rId4" Type="http://schemas.openxmlformats.org/officeDocument/2006/relationships/image" Target="../media/image23.png"/><Relationship Id="rId9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포트폴리오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Bold"/>
              </a:rPr>
              <a:t>Cloud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경력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dirty="0">
                <a:solidFill>
                  <a:srgbClr val="2C2C2C"/>
                </a:solidFill>
                <a:latin typeface="Pretendard Bold"/>
                <a:ea typeface="Pretendard Bold"/>
              </a:rPr>
              <a:t>신입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800"/>
              <a:t>신입/경력 채용 공고 기반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094" b="0" i="0" u="none" strike="noStrike" dirty="0">
                <a:ea typeface="Pretendard ExtraBold"/>
              </a:rPr>
              <a:t>엔아이티서비스 (NIT Service)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김유신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290"/>
              <a:t>Cloud Engineer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학력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가천길잡이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dirty="0">
                <a:solidFill>
                  <a:srgbClr val="000000"/>
                </a:solidFill>
                <a:latin typeface="Pretendard Bold"/>
                <a:ea typeface="Pretendard Bold"/>
              </a:rPr>
              <a:t>Fitpoly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Daily Snippet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소개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Aegis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QRious (2등 수상)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엔아이티서비스 (NIT Service)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주도적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책임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협업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5003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팀워크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4699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소통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김유신의 포트폴리오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가치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&lt;br&gt;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성장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소개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Slack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Figma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협업 도구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디자인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Next.js, Node.js, React, Vue.js, PyTorch, TensorFlow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도구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TypeScript, JavaScript, 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언어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Illustrator, After Effects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VS Code, GitHub, Notion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기술 스택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구축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파이프라인 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데이터 처리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AI 페르소나 생성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핵심 역할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3295" b="0" i="0" u="none" strike="noStrike">
                <a:solidFill>
                  <a:srgbClr val="207CD7"/>
                </a:solidFill>
                <a:latin typeface="Pretendard Bold"/>
              </a:rPr>
              <a:t>관계 형성 촉진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RAG 기반 AI 페르소나 생성 파이프라인 설계 및 구축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566" b="0" i="0" u="none" strike="noStrike">
                <a:solidFill>
                  <a:srgbClr val="207CD7"/>
                </a:solidFill>
                <a:latin typeface="Pretendard Bold"/>
              </a:rPr>
              <a:t>교수별 전문성 반영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576" b="0" i="0" u="none" strike="noStrike">
                <a:solidFill>
                  <a:srgbClr val="2C2C2C"/>
                </a:solidFill>
                <a:ea typeface="Pretendard Bold"/>
              </a:rPr>
              <a:t>해커톤 팀 백엔드/AI 개발자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566" b="0" i="0" u="none" strike="noStrike">
                <a:solidFill>
                  <a:srgbClr val="207CD7"/>
                </a:solidFill>
                <a:latin typeface="Pretendard Bold"/>
              </a:rPr>
              <a:t>3만 건 데이터 처리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RAG로 3만 건 학술 데이터 처리, AI 페르소나 플랫폼 구축, 소통…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800" b="0" i="0" u="none" strike="noStrike">
                <a:solidFill>
                  <a:srgbClr val="FFFFFF"/>
                </a:solidFill>
                <a:ea typeface="Pretendard Bold"/>
              </a:rPr>
              <a:t/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기술 스택: RAG, Python, LangChain, Vector DB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2등 수상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QRious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30,000건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44" b="0" i="0" u="none" strike="noStrike">
                <a:solidFill>
                  <a:srgbClr val="2C2C2C"/>
                </a:solidFill>
                <a:ea typeface="Pretendard Bold"/>
              </a:rPr>
              <a:t>데이터 규모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RAG 기반 AI 페르소나 생성 시스템 프로토타입 개발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13" b="0" i="0" u="none" strike="noStrike">
                <a:solidFill>
                  <a:srgbClr val="2C2C2C"/>
                </a:solidFill>
                <a:ea typeface="Pretendard Bold"/>
              </a:rPr>
              <a:t>주요 성과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심리적 부담 완화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오프라인 만남…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AI 페르소나를 '관계 촉진 도구'로 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목표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캠퍼스 내 소통 단절 문제 해결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QRious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수십 번 프롬프트 수정 통한 답변 생성 고도화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데이터 전처리 및 임베딩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3만 건 문서 분할, 임베딩, 벡터 DB 저장 파이프라인 구축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핵심 과제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RAG 파이프라인 설계 및 구축 (Ownership)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기술 난관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3만 건 비정형 데이터 처리 및 교수별 답변 생성 난제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핵심 역할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문제 상황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RAG vs Fine-tuning 비교 분석 후 RAG 채택 (Trade-off)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LLM 환각 최소화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QRious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5854700"/>
            <a:ext cx="21082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34620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90200" y="82169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MVP 개발-배포 기간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3700" y="82296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47" b="0" i="0" u="none" strike="noStrike">
                <a:solidFill>
                  <a:srgbClr val="207CD7"/>
                </a:solidFill>
                <a:ea typeface="Pretendard Bold"/>
              </a:rPr>
              <a:t>KPI 기반 게이미피케이션 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0200" y="71628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3일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3700" y="71628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멀티 AI 병렬 자동화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90200" y="60960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AI 환각 현상 제어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3700" y="60960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180" b="0" i="0" u="none" strike="noStrike">
                <a:solidFill>
                  <a:srgbClr val="207CD7"/>
                </a:solidFill>
                <a:ea typeface="Pretendard Bold"/>
              </a:rPr>
              <a:t>30,000건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1500" y="71501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698" b="0" i="0" u="none" strike="noStrike">
                <a:solidFill>
                  <a:srgbClr val="FFFFFF"/>
                </a:solidFill>
                <a:ea typeface="Pretendard Bold"/>
              </a:rPr>
              <a:t>해커톤 2위 기여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90200" y="37211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Firestore Upsert 로직 도입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3700" y="37211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889EB4"/>
                </a:solidFill>
                <a:ea typeface="Pretendard Bold"/>
              </a:rPr>
              <a:t>953라인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0200" y="26543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제품 안정성 확보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26543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889EB4"/>
                </a:solidFill>
                <a:ea typeface="Pretendard Bold"/>
              </a:rPr>
              <a:t>불안정 기능 제거 (Ownership)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15875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기술 부채 309라인 감소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16002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889EB4"/>
                </a:solidFill>
                <a:ea typeface="Pretendard Bold"/>
              </a:rPr>
              <a:t>309라인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1500" y="26543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0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RAG 파이프라인 단독 구축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신규 사용자 데이터 유실 100% 방지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QRious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RAG 파이프라인 구축 경험 활용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데이터 기반 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Ownership, Frugality, Think Big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13" b="0" i="0" u="none" strike="noStrike">
                <a:solidFill>
                  <a:srgbClr val="2C2C2C"/>
                </a:solidFill>
                <a:ea typeface="Pretendard Bold"/>
              </a:rPr>
              <a:t>핵심 역량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기술 완성도 → 상호작용 맥락 및 설계의 중요성 인지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개발자 → 경…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익명 질문 리포트 기능 설계 (2차 효과)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성장 경험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119" b="0" i="0" u="none" strike="noStrike">
                <a:solidFill>
                  <a:srgbClr val="FFFFFF"/>
                </a:solidFill>
                <a:latin typeface="Pretendard Bold"/>
              </a:rPr>
              <a:t>RAG 파이프라인 기반 AI 페르소나 프로토타입 완성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학술 데이터 기반 답변 생성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QRious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900" b="0" i="0" u="none" strike="noStrike">
                <a:solidFill>
                  <a:srgbClr val="207CD7"/>
                </a:solidFill>
                <a:latin typeface="Pretendard Bold"/>
              </a:rPr>
              <a:t>RAG 파이프라인 구축, 3만 건 AI 페르소나 완성, 익명 질문 리포트 설계.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13800" y="82804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핵심 기능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2600" y="81915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00" b="0" i="0" u="none" strike="noStrike">
                <a:solidFill>
                  <a:srgbClr val="207CD7"/>
                </a:solidFill>
                <a:latin typeface="Pretendard Bold"/>
              </a:rPr>
              <a:t>Google Gemini, OpenAI GPT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68326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기술 스택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800" y="67437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145" b="0" i="0" u="none" strike="noStrike">
                <a:solidFill>
                  <a:srgbClr val="6387AB"/>
                </a:solidFill>
                <a:latin typeface="Pretendard Bold"/>
              </a:rPr>
              <a:t>파일럿 테스트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9600" y="55372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AI 기반 자동 채점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3800" y="39243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B2B SaaS 시장 가능성 입증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38354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738" b="0" i="0" u="none" strike="noStrike">
                <a:solidFill>
                  <a:srgbClr val="207CD7"/>
                </a:solidFill>
                <a:latin typeface="Pretendard Bold"/>
              </a:rPr>
              <a:t>500만원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기획, 기업 미팅, 프론트엔드 개발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738" b="0" i="0" u="none" strike="noStrike">
                <a:solidFill>
                  <a:srgbClr val="6387AB"/>
                </a:solidFill>
                <a:latin typeface="Pretendard Bold"/>
              </a:rPr>
              <a:t>3개월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협업 및 성과 관리 기술 역할 이해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5분 내 요약본 작성 및 공유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Daily Snippet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팀 업무 진행 상황 관리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213" b="0" i="0" u="none" strike="noStrike" dirty="0">
                <a:solidFill>
                  <a:srgbClr val="2C2C2C"/>
                </a:solidFill>
                <a:ea typeface="Pretendard Bold"/>
              </a:rPr>
              <a:t>AI 기반 자동 채점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026" b="0" i="0" u="none" strike="noStrike" dirty="0">
                <a:solidFill>
                  <a:srgbClr val="2C2C2C"/>
                </a:solidFill>
                <a:ea typeface="Pretendard Regular"/>
              </a:rPr>
              <a:t>점수, 헬스체크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dirty="0">
                <a:solidFill>
                  <a:srgbClr val="2C2C2C"/>
                </a:solidFill>
                <a:latin typeface="Pretendard Bold"/>
                <a:ea typeface="Pretendard Bold"/>
              </a:rPr>
              <a:t>핵심 지표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800"/>
              <a:t>캘린더 인터페이스, 실시간 성과 추적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4745" b="0" i="0" u="none" strike="noStrike" dirty="0">
                <a:ea typeface="Pretendard ExtraBold"/>
              </a:rPr>
              <a:t>데일리 스니펫 기획/개발, 3개월 파일럿, 500만원 납품, B2B SaaS 가능성 입증.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9600" b="0" i="0" u="none" strike="noStrike">
                <a:solidFill>
                  <a:srgbClr val="FF0000"/>
                </a:solidFill>
                <a:ea typeface="Pretendard Bold"/>
              </a:rPr>
              <a:t/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290"/>
              <a:t>Daily Snippet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서비스 개선점 도출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180" b="0" i="0" u="none" strike="noStrike">
                <a:solidFill>
                  <a:srgbClr val="FFFFFF"/>
                </a:solidFill>
                <a:ea typeface="Pretendard Bold"/>
              </a:rPr>
              <a:t>파일럿 테스트 피드백 반영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주관적 편차 최소화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객관성 및 일관성 확보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5분 요약본 작성 (Ownership)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핵심 과제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주요 역할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6" b="0" i="0" u="none" strike="noStrike">
                <a:solidFill>
                  <a:srgbClr val="2C2C2C"/>
                </a:solidFill>
                <a:ea typeface="Pretendard Bold"/>
              </a:rPr>
              <a:t>기획, 영업, 프론트엔드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기업 성과 평가 어려움 해결 목표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AI 기반 자동 채점 시스템 도입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5520" dirty="0">
                <a:solidFill>
                  <a:srgbClr val="2C2C2C"/>
                </a:solidFill>
                <a:latin typeface="Pretendard ExtraBold"/>
                <a:ea typeface="Pretendard ExtraBold"/>
              </a:rPr>
              <a:t>Daily Snippet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ERP 연동 자동화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B2B 보안 우려 해소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698" b="0" i="0" u="none" strike="noStrike">
                <a:solidFill>
                  <a:srgbClr val="2C2C2C"/>
                </a:solidFill>
                <a:latin typeface="Pretendard Bold"/>
              </a:rPr>
              <a:t>On-premise LLM 아키텍처 설계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초기 유료 계약 금액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500만원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361" b="0" i="0" u="none" strike="noStrike">
                <a:solidFill>
                  <a:srgbClr val="207CD7"/>
                </a:solidFill>
                <a:latin typeface="Pretendard Bold"/>
              </a:rPr>
              <a:t>B2B 납품 계약 체결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576" b="0" i="0" u="none" strike="noStrike">
                <a:solidFill>
                  <a:srgbClr val="2C2C2C"/>
                </a:solidFill>
                <a:ea typeface="Pretendard Bold"/>
              </a:rPr>
              <a:t>MVP 제작 및 프론트엔드 개발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제품 효용성 데이터 입증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최초 매출 계약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3개월 파일럿 프로그램 제안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5,000,000원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1437" b="0" i="0" u="none" strike="noStrike">
                <a:solidFill>
                  <a:srgbClr val="FFFFFF"/>
                </a:solidFill>
                <a:ea typeface="Pretendard Bold"/>
              </a:rPr>
              <a:t>B2B SaaS 제품 0→1 기획 및 영업 주도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B2B SaaS 아이디어 → 유료 계약 전환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시장성 검증 및 레퍼런스 확보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5520" b="0" i="0" u="none" strike="noStrike" dirty="0">
                <a:solidFill>
                  <a:srgbClr val="2C2C2C"/>
                </a:solidFill>
                <a:latin typeface="Pretendard ExtraBold"/>
              </a:rPr>
              <a:t>Daily Snippet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시스템 전문성 및 안정성 향상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지속적인 학습…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책임감, 클라우드 인프라 운영, 비용/성능 최적화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13" b="0" i="0" u="none" strike="noStrike">
                <a:solidFill>
                  <a:srgbClr val="2C2C2C"/>
                </a:solidFill>
                <a:ea typeface="Pretendard Bold"/>
              </a:rPr>
              <a:t>핵심 역량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기술 중심 → 사회적 영향 고려 관점 전환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균형 잡힌 의…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사회적 가치 추구 (모니터 기부)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성장 경험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800" b="0" i="0" u="none" strike="noStrike">
                <a:solidFill>
                  <a:srgbClr val="FFFFFF"/>
                </a:solidFill>
                <a:latin typeface="Pretendard Bold"/>
              </a:rPr>
              <a:t/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552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Daily Snippet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116" b="0" i="0" u="none" strike="noStrike">
                <a:solidFill>
                  <a:srgbClr val="207CD7"/>
                </a:solidFill>
                <a:latin typeface="Pretendard Bold"/>
              </a:rPr>
              <a:t>3개월 파일럿 성공, 500만원 납품, 모니터 28대 기부.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81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명확한 문제 정의의 중요성 확신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40시간 이상 시간 낭비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dirty="0">
                <a:solidFill>
                  <a:srgbClr val="000000"/>
                </a:solidFill>
                <a:latin typeface="Pretendard Bold"/>
                <a:ea typeface="Pretendard Bold"/>
              </a:rPr>
              <a:t>성과 수치화 역량 부재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핵심 문제 정의 (3가지)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14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사용자 문제 정의 주도 (PM)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>제품 개발 전략 방향 제시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경쟁사 분석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Fitpoly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데이터 파편화, 수치화 역량 부재, JD 매칭 실패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7" b="0" i="0" u="none" strike="noStrike">
                <a:solidFill>
                  <a:srgbClr val="2C2C2C"/>
                </a:solidFill>
                <a:ea typeface="Pretendard Bold"/>
              </a:rPr>
              <a:t>비즈니스 성공 확률 증대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9CB8D0"/>
                </a:solidFill>
                <a:ea typeface="Pretendard Bold"/>
              </a:rPr>
              <a:t>제품 개발 방향 설정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PM으로서 문제 정의 단계 주도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5003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845" b="0" i="0" u="none" strike="noStrike">
                <a:solidFill>
                  <a:srgbClr val="2C2C2C"/>
                </a:solidFill>
                <a:ea typeface="Pretendard Bold"/>
              </a:rPr>
              <a:t>시장 기회 영역 파악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4699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004" b="0" i="0" u="none" strike="noStrike">
                <a:solidFill>
                  <a:srgbClr val="9CB8D0"/>
                </a:solidFill>
                <a:ea typeface="Pretendard Bold"/>
              </a:rPr>
              <a:t>핵심 문제 도출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취업준비생 포트폴리오 작성의 막막함 해결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562" b="0" i="0" u="none" strike="noStrike">
                <a:solidFill>
                  <a:srgbClr val="2C2C2C"/>
                </a:solidFill>
                <a:ea typeface="Pretendard Bold"/>
              </a:rPr>
              <a:t>수십만 명 사용자 영향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문제 정의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평균 40시간 이상 소요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시장 데이터 분석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Fitpoly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프로젝트 방향 설정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서류 탈락률 62%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데이터 기반 결정 및 팀 설득 (Bias for Action)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핵심 증명 과제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심층 인터뷰, 경쟁사 분석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초기 과제: '더 나은 포트폴리오 템플릿' 기획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026" b="0" i="0" u="none" strike="noStrike">
                <a:solidFill>
                  <a:srgbClr val="2C2C2C"/>
                </a:solidFill>
                <a:ea typeface="Pretendard Bold"/>
              </a:rPr>
              <a:t>문제 재검증 (Ownership)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840" b="0" i="0" u="none" strike="noStrike">
                <a:solidFill>
                  <a:srgbClr val="2C2C2C"/>
                </a:solidFill>
                <a:ea typeface="Pretendard Regular"/>
              </a:rPr>
              <a:t>디자인 템플릿 vs 데이터 관리 의사결정 (Trade-off)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213" b="0" i="0" u="none" strike="noStrike">
                <a:solidFill>
                  <a:srgbClr val="207CD7"/>
                </a:solidFill>
                <a:latin typeface="Pretendard Bold"/>
              </a:rPr>
              <a:t>디자인 → 콘텐츠 (경험 데이터 관리, 성과 표현)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dirty="0">
                <a:solidFill>
                  <a:srgbClr val="2C2C2C"/>
                </a:solidFill>
                <a:latin typeface="Pretendard ExtraBold"/>
                <a:ea typeface="Pretendard ExtraBold"/>
              </a:rPr>
              <a:t>Fitpoly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5854700"/>
            <a:ext cx="21082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34620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90200" y="82169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목표 시장 정의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3700" y="82296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07CD7"/>
                </a:solidFill>
                <a:ea typeface="Pretendard Bold"/>
              </a:rPr>
              <a:t>420억 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0200" y="71628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TAM-SAM-SOM 분석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3700" y="71628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제품 개발 방향성 구체화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90200" y="60960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62%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3700" y="60960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평균 제작 시간 (문제점)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1500" y="71501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562" b="0" i="0" u="none" strike="noStrike">
                <a:solidFill>
                  <a:srgbClr val="FFFFFF"/>
                </a:solidFill>
                <a:ea typeface="Pretendard Bold"/>
              </a:rPr>
              <a:t>ATS 서류 탈락률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90200" y="37211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3대 핵심 지표 도출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3700" y="37211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889EB4"/>
                </a:solidFill>
                <a:ea typeface="Pretendard Bold"/>
              </a:rPr>
              <a:t>후속 개발 리소스 확보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0200" y="26543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가설 검증 실험 설계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26543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889EB4"/>
                </a:solidFill>
                <a:ea typeface="Pretendard Bold"/>
              </a:rPr>
              <a:t>MVP 기획 및 배포 주도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15875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가설 검증 MVP로 시장 수요 입증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16002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889EB4"/>
                </a:solidFill>
                <a:ea typeface="Pretendard Bold"/>
              </a:rPr>
              <a:t>28.4%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1500" y="26543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가입 전환율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40시간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시장 수요 수치 증명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Fitpoly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초기 리스크 관리 및 비즈니스 성과 창출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신규 프로젝트…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Ownership, Think Big, Frugality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13" b="0" i="0" u="none" strike="noStrike">
                <a:solidFill>
                  <a:srgbClr val="2C2C2C"/>
                </a:solidFill>
                <a:ea typeface="Pretendard Bold"/>
              </a:rPr>
              <a:t>핵심 역량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표면적 요구 → 근본적 문제 파악 (Root Cause)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경험 기록 및…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개발 우선순위 명확화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성장 경험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562" b="0" i="0" u="none" strike="noStrike">
                <a:solidFill>
                  <a:srgbClr val="FFFFFF"/>
                </a:solidFill>
                <a:latin typeface="Pretendard Bold"/>
              </a:rPr>
              <a:t>3가지 핵심 문제 정의 보고서 산출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제품 전략 재정의 (툴 → 플랫폼)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600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Fitpoly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데이터 파편화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13800" y="82804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TensorFlow Lite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2600" y="81915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145" b="0" i="0" u="none" strike="noStrike">
                <a:solidFill>
                  <a:srgbClr val="207CD7"/>
                </a:solidFill>
                <a:latin typeface="Pretendard Bold"/>
              </a:rPr>
              <a:t>NPU Acceleration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68326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기술 스택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800" y="67437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69" b="0" i="0" u="none" strike="noStrike">
                <a:solidFill>
                  <a:srgbClr val="6387AB"/>
                </a:solidFill>
                <a:latin typeface="Pretendard Bold"/>
              </a:rPr>
              <a:t>보안과 편의성 동시 만족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9600" y="55372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216" b="0" i="0" u="none" strike="noStrike">
                <a:solidFill>
                  <a:srgbClr val="207CD7"/>
                </a:solidFill>
                <a:ea typeface="Pretendard Bold"/>
              </a:rPr>
              <a:t>프로젝트 목표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3800" y="39243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데이터 주권 보장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38354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69" b="0" i="0" u="none" strike="noStrike">
                <a:solidFill>
                  <a:srgbClr val="207CD7"/>
                </a:solidFill>
                <a:latin typeface="Pretendard Bold"/>
              </a:rPr>
              <a:t>95% 이상 단축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온디바이스 AI 무단 학습 방지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69" b="0" i="0" u="none" strike="noStrike">
                <a:solidFill>
                  <a:srgbClr val="6387AB"/>
                </a:solidFill>
                <a:latin typeface="Pretendard Bold"/>
              </a:rPr>
              <a:t>3초 내 처리 속도 달성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DAU 120만 규모 서비스 초상권 문제 예방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개인정보 유출 위험 원천 차단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6000" b="0" i="0" u="none" strike="noStrike">
                <a:solidFill>
                  <a:srgbClr val="2C2C2C"/>
                </a:solidFill>
                <a:ea typeface="Pretendard ExtraBold"/>
              </a:rPr>
              <a:t>Aegis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기존 솔루션 한계점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026" b="0" i="0" u="none" strike="noStrike" dirty="0">
                <a:solidFill>
                  <a:srgbClr val="2C2C2C"/>
                </a:solidFill>
                <a:ea typeface="Pretendard Regular"/>
              </a:rPr>
              <a:t>느린 처리 속도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900" dirty="0">
                <a:solidFill>
                  <a:srgbClr val="2C2C2C"/>
                </a:solidFill>
                <a:latin typeface="Pretendard Bold"/>
                <a:ea typeface="Pretendard Bold"/>
              </a:rPr>
              <a:t>개인정보 유출 위험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800"/>
              <a:t>딥페이크 범죄 심각성 대두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5158" b="0" i="0" u="none" strike="noStrike" dirty="0">
                <a:ea typeface="Pretendard ExtraBold"/>
              </a:rPr>
              <a:t>경량화/NPU 최적화, 95% 빠른 3초 처리, 모바일 AI 학습 방지 시스템 구축.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9600" b="0" i="0" u="none" strike="noStrike">
                <a:solidFill>
                  <a:srgbClr val="FF0000"/>
                </a:solidFill>
                <a:ea typeface="Pretendard Bold"/>
              </a:rPr>
              <a:t/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290"/>
              <a:t>Aegis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819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모델 양자화 및 레이어 가지치기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303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'충분히 안전하고 매일 쓸 수 있는 기술' 선택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674" dirty="0">
                <a:solidFill>
                  <a:srgbClr val="000000"/>
                </a:solidFill>
                <a:latin typeface="Pretendard Bold"/>
                <a:ea typeface="Pretendard Bold"/>
              </a:rPr>
              <a:t>데스크톱 모델 → 모바일 실시간 구동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1303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AI 모델 경량화 및 NPU 가속화 (단독 담당)</a:t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/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1947" b="0" i="0" u="none" strike="noStrike" dirty="0">
                <a:solidFill>
                  <a:srgbClr val="2C2C2C"/>
                </a:solidFill>
                <a:ea typeface="Pretendard Regular"/>
              </a:rPr>
              <a:t>의사결정: 보안 강도 vs 처리 속도 (Trade-off)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담당 역할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6624" b="0" i="0" u="none" strike="noStrike">
                <a:solidFill>
                  <a:srgbClr val="2C2C2C"/>
                </a:solidFill>
                <a:ea typeface="Pretendard ExtraBold"/>
              </a:rPr>
              <a:t>Aegis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AI 모델 평가 자동화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698" b="0" i="0" u="none" strike="noStrike">
                <a:solidFill>
                  <a:srgbClr val="2C2C2C"/>
                </a:solidFill>
                <a:latin typeface="Pretendard Bold"/>
              </a:rPr>
              <a:t>모바일 AI 처리 시간 98.3% 단축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006" b="0" i="0" u="none" strike="noStrike">
                <a:solidFill>
                  <a:srgbClr val="2C2C2C"/>
                </a:solidFill>
                <a:latin typeface="Pretendard Bold"/>
              </a:rPr>
              <a:t>하이브리드 가속 엔진 설계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화질 보존 결정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86.8%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개인정보 외부 유출 가능성 0%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실시간 보호 UX 구현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361" b="0" i="0" u="none" strike="noStrike">
                <a:solidFill>
                  <a:srgbClr val="207CD7"/>
                </a:solidFill>
                <a:latin typeface="Pretendard Bold"/>
              </a:rPr>
              <a:t>데이터 유출 0% 실현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3초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온디바이스 아키텍처 도입 주도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180초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1845" b="0" i="0" u="none" strike="noStrike">
                <a:solidFill>
                  <a:srgbClr val="FFFFFF"/>
                </a:solidFill>
                <a:ea typeface="Pretendard Bold"/>
              </a:rPr>
              <a:t>AI 이미지 처리 시간 98% 단축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화질 보존 시 즉시 사용 의향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보안 신뢰도 100%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Aegis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51308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Ownership, Frugality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C2C2C"/>
                </a:solidFill>
                <a:ea typeface="Pretendard Bold"/>
              </a:rPr>
              <a:t>제한된 조건 속 기술 창의성 발휘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20000" y="7493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9CB8D0"/>
                </a:solidFill>
                <a:ea typeface="Pretendard Bold"/>
              </a:rPr>
              <a:t>대규모 인프라 비용…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5000" y="4546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기술적 완벽성 → 심리적 안정감의 가치 발견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5003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핵심 역량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46990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9CB8D0"/>
                </a:solidFill>
                <a:ea typeface="Pretendard Bold"/>
              </a:rPr>
              <a:t>하드웨어 제약 → …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3초 내 이미지 처리로 '제로 트러스트 보안' 시스템 구축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C2C2C"/>
                </a:solidFill>
                <a:ea typeface="Pretendard Bold"/>
              </a:rPr>
              <a:t>새로운 사용자 행동 유도 (2차 효과)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091" b="0" i="0" u="none" strike="noStrike">
                <a:solidFill>
                  <a:srgbClr val="9CB8D0"/>
                </a:solidFill>
                <a:ea typeface="Pretendard Bold"/>
              </a:rPr>
              <a:t>95% 이상 단축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성장 경험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318" b="0" i="0" u="none" strike="noStrike">
                <a:solidFill>
                  <a:srgbClr val="207CD7"/>
                </a:solidFill>
                <a:latin typeface="Pretendard Bold"/>
              </a:rPr>
              <a:t>데이터 주권 행사 기반 마련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Aegis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7975600"/>
            <a:ext cx="8229600" cy="952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6908800"/>
            <a:ext cx="82296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5854700"/>
            <a:ext cx="82296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300" y="5854700"/>
            <a:ext cx="2108200" cy="3086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70000"/>
          </a:blip>
          <a:stretch>
            <a:fillRect/>
          </a:stretch>
        </p:blipFill>
        <p:spPr>
          <a:xfrm>
            <a:off x="11277600" y="4660900"/>
            <a:ext cx="1346200" cy="97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3479800"/>
            <a:ext cx="82296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2413000"/>
            <a:ext cx="8229600" cy="952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6200" y="1346200"/>
            <a:ext cx="8229600" cy="952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346200"/>
            <a:ext cx="2108200" cy="3086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490200" y="82169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기술 스택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283700" y="82296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490200" y="71628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이해관계자 조율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83700" y="71628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07CD7"/>
                </a:solidFill>
                <a:ea typeface="Pretendard Bold"/>
              </a:rPr>
              <a:t>개발 청사진 제시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90200" y="60960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셔틀버스, 빈 강의실, 학식당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83700" y="60960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562" b="0" i="0" u="none" strike="noStrike">
                <a:solidFill>
                  <a:srgbClr val="207CD7"/>
                </a:solidFill>
                <a:ea typeface="Pretendard Bold"/>
              </a:rPr>
              <a:t>통합 앱 기획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921500" y="71501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698" b="0" i="0" u="none" strike="noStrike">
                <a:solidFill>
                  <a:srgbClr val="FFFFFF"/>
                </a:solidFill>
                <a:ea typeface="Pretendard Bold"/>
              </a:rPr>
              <a:t>이해관계자 설득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90200" y="37211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문제 정의, 아이디어 구체화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83700" y="37211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889EB4"/>
                </a:solidFill>
                <a:ea typeface="Pretendard Bold"/>
              </a:rPr>
              <a:t>프로젝트 리더, PM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90200" y="26543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PM 핵심 역량 경험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283700" y="26543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889EB4"/>
                </a:solidFill>
                <a:ea typeface="Pretendard Bold"/>
              </a:rPr>
              <a:t>0에서 1의 제품 기획 경험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490200" y="1587500"/>
            <a:ext cx="64897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Regular"/>
              </a:rPr>
              <a:t>프로덕트 팀으로 전환 및 서비스 기획 주도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283700" y="1600200"/>
            <a:ext cx="12319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180" b="0" i="0" u="none" strike="noStrike">
                <a:solidFill>
                  <a:srgbClr val="889EB4"/>
                </a:solidFill>
                <a:ea typeface="Pretendard Bold"/>
              </a:rPr>
              <a:t>21,000명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921500" y="2654300"/>
            <a:ext cx="1701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FFFFFF"/>
                </a:solidFill>
                <a:ea typeface="Pretendard Bold"/>
              </a:rPr>
              <a:t>교내 3대 불편사항 해결 앱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핵심 기능 설계, 팀 방향성 제시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초기 시행착오 감소 및 시장 안착 기여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가천길잡이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7835900"/>
            <a:ext cx="762000" cy="762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7950200"/>
            <a:ext cx="8470900" cy="114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6502400"/>
            <a:ext cx="8470900" cy="1143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6400800"/>
            <a:ext cx="749300" cy="749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5397500"/>
            <a:ext cx="1536700" cy="723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0" y="3479800"/>
            <a:ext cx="762000" cy="762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600" y="3594100"/>
            <a:ext cx="8470900" cy="1143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35900" y="2146300"/>
            <a:ext cx="8470900" cy="1143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2044700"/>
            <a:ext cx="749300" cy="749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41400"/>
            <a:ext cx="15367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8813800" y="82804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이해관계자 조율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102600" y="81915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145" b="0" i="0" u="none" strike="noStrike">
                <a:solidFill>
                  <a:srgbClr val="207CD7"/>
                </a:solidFill>
                <a:latin typeface="Pretendard Bold"/>
              </a:rPr>
              <a:t>팀 방향성 제시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271000" y="68326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핵심 기능 설계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9800" y="67437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00" b="0" i="0" u="none" strike="noStrike">
                <a:solidFill>
                  <a:srgbClr val="6387AB"/>
                </a:solidFill>
                <a:latin typeface="Pretendard Bold"/>
              </a:rPr>
              <a:t>기획 전 과정 100% 기여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959600" y="55372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1029" b="0" i="0" u="none" strike="noStrike">
                <a:solidFill>
                  <a:srgbClr val="207CD7"/>
                </a:solidFill>
                <a:ea typeface="Pretendard Bold"/>
              </a:rPr>
              <a:t>프로젝트 리더, PM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13800" y="3924300"/>
            <a:ext cx="66802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2C2C2C"/>
                </a:solidFill>
                <a:ea typeface="Pretendard Regular"/>
              </a:rPr>
              <a:t>통합 앱 기획 목표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02600" y="38354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1145" b="0" i="0" u="none" strike="noStrike">
                <a:solidFill>
                  <a:srgbClr val="207CD7"/>
                </a:solidFill>
                <a:latin typeface="Pretendard Bold"/>
              </a:rPr>
              <a:t>학식당 대기 시간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71000" y="2476500"/>
            <a:ext cx="6108700" cy="520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455" b="0" i="0" u="none" strike="noStrike">
                <a:solidFill>
                  <a:srgbClr val="6387AB"/>
                </a:solidFill>
                <a:ea typeface="Pretendard Regular"/>
              </a:rPr>
              <a:t>셔틀버스 위치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59800" y="2387600"/>
            <a:ext cx="635000" cy="71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en-US" sz="969" b="0" i="0" u="none" strike="noStrike">
                <a:solidFill>
                  <a:srgbClr val="6387AB"/>
                </a:solidFill>
                <a:latin typeface="Pretendard Bold"/>
              </a:rPr>
              <a:t>학생 불편 사항 수집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959600" y="1181100"/>
            <a:ext cx="10795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07CD7"/>
                </a:solidFill>
                <a:ea typeface="Pretendard Bold"/>
              </a:rPr>
              <a:t/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4013200"/>
            <a:ext cx="3416300" cy="1574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시간 절약 및 자원 활용도 증대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900" b="0" i="0" u="none" strike="noStrike">
                <a:solidFill>
                  <a:srgbClr val="207CD7"/>
                </a:solidFill>
                <a:latin typeface="Pretendard Bold"/>
              </a:rPr>
              <a:t>【피라미드 구조】 자발적으로 동아리를 창설하고 교내 3대 핵심 불편사항(셔틀버스, 빈 강의실, …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24000" y="927100"/>
            <a:ext cx="36830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sz="5520" b="0" i="0" u="none" strike="noStrike">
                <a:solidFill>
                  <a:srgbClr val="2C2C2C"/>
                </a:solidFill>
                <a:ea typeface="Pretendard ExtraBold"/>
              </a:rPr>
              <a:t>가천길잡이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1200" y="4711700"/>
            <a:ext cx="5080000" cy="4406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5041900"/>
            <a:ext cx="4597400" cy="2247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41200" y="3657600"/>
            <a:ext cx="5080000" cy="952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4711700"/>
            <a:ext cx="5080000" cy="4406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5000" y="5041900"/>
            <a:ext cx="4597400" cy="2247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1000" y="3657600"/>
            <a:ext cx="5080000" cy="952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143000"/>
            <a:ext cx="10490200" cy="2146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743200"/>
            <a:ext cx="292100" cy="38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7416800" y="2286000"/>
            <a:ext cx="292100" cy="38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3825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데이터 기반 논리 구축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0302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216" b="0" i="0" u="none" strike="noStrike">
                <a:solidFill>
                  <a:srgbClr val="FFFFFF"/>
                </a:solidFill>
                <a:ea typeface="Pretendard Bold"/>
              </a:rPr>
              <a:t>학식당: QR코드 스캔 방식 채택 (Trade-off)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985000" y="7556500"/>
            <a:ext cx="4648200" cy="1117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900" b="0" i="0" u="none" strike="noStrike">
                <a:solidFill>
                  <a:srgbClr val="2C2C2C"/>
                </a:solidFill>
                <a:ea typeface="Pretendard Regular"/>
              </a:rPr>
              <a:t>학교 행정실 설득 (Bias for Action)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2700" y="3898900"/>
            <a:ext cx="33020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핵심 도전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10700" y="25908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학생 목소리 수집 및 3대 문제 정의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734300" y="2603500"/>
            <a:ext cx="1574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410700" y="2133600"/>
            <a:ext cx="56642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1433" b="0" i="0" u="none" strike="noStrike">
                <a:solidFill>
                  <a:srgbClr val="2C2C2C"/>
                </a:solidFill>
                <a:latin typeface="Pretendard Regular"/>
              </a:rPr>
              <a:t>핵심 과업: '학교 도움' → '실행 가능한 프로덕트 기획'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34300" y="2146300"/>
            <a:ext cx="1587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Bold"/>
              </a:rPr>
              <a:t>오너십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05700" y="1435100"/>
            <a:ext cx="25908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800" b="0" i="0" u="none" strike="noStrike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장기적 사용자 경험 및 운영 효율 극대화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74800" y="2933700"/>
            <a:ext cx="3365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통합 컨셉 '가천길잡이' 제시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5520" dirty="0">
                <a:solidFill>
                  <a:srgbClr val="2C2C2C"/>
                </a:solidFill>
                <a:latin typeface="Pretendard ExtraBold"/>
                <a:ea typeface="Pretendard ExtraBold"/>
              </a:rPr>
              <a:t>가천길잡이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8382000"/>
            <a:ext cx="104902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200" y="7454900"/>
            <a:ext cx="10490200" cy="863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6527800"/>
            <a:ext cx="10490200" cy="863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200" y="5588000"/>
            <a:ext cx="10490200" cy="863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0200" y="4622800"/>
            <a:ext cx="10490200" cy="86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79500" y="1993900"/>
            <a:ext cx="3416300" cy="2273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8900" y="1993900"/>
            <a:ext cx="3416300" cy="2273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1993900"/>
            <a:ext cx="3416300" cy="22733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1000" y="1028700"/>
            <a:ext cx="10490200" cy="863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325100" y="8585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845" b="0" i="0" u="none" strike="noStrike">
                <a:solidFill>
                  <a:srgbClr val="2C2C2C"/>
                </a:solidFill>
                <a:latin typeface="Pretendard Bold"/>
              </a:rPr>
              <a:t>비즈니스 제약조건 3가지 도출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325100" y="76454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698" b="0" i="0" u="none" strike="noStrike">
                <a:solidFill>
                  <a:srgbClr val="2C2C2C"/>
                </a:solidFill>
                <a:latin typeface="Pretendard Bold"/>
              </a:rPr>
              <a:t>셔틀버스 도착 예측 시스템 설계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325100" y="67183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2370" b="0" i="0" u="none" strike="noStrike">
                <a:solidFill>
                  <a:srgbClr val="2C2C2C"/>
                </a:solidFill>
                <a:latin typeface="Pretendard Bold"/>
              </a:rPr>
              <a:t>사용자 니즈 재정의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25100" y="57912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437" b="0" i="0" u="none" strike="noStrike">
                <a:solidFill>
                  <a:srgbClr val="2C2C2C"/>
                </a:solidFill>
                <a:latin typeface="Pretendard Bold"/>
              </a:rPr>
              <a:t>예약 시스템 설계 (선-예약, 후-승인)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363200" y="48260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2370" b="0" i="0" u="none" strike="noStrike">
                <a:solidFill>
                  <a:srgbClr val="FFFFFF"/>
                </a:solidFill>
                <a:ea typeface="Pretendard Bold"/>
              </a:rPr>
              <a:t>유휴 자원 활용 극대화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0843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학식당 대기열 병목 제거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097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129" b="0" i="0" u="none" strike="noStrike">
                <a:solidFill>
                  <a:srgbClr val="2C2C2C"/>
                </a:solidFill>
                <a:ea typeface="Pretendard Bold"/>
              </a:rPr>
              <a:t>셔틀버스 위치, 강의실 예약, 학식당 결제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537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1998" b="0" i="0" u="none" strike="noStrike">
                <a:solidFill>
                  <a:srgbClr val="207CD7"/>
                </a:solidFill>
                <a:latin typeface="Pretendard Bold"/>
              </a:rPr>
              <a:t>후속 개발 프로젝트 실행 기반 구축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5791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가지 핵심 문제 정의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10400" y="2921000"/>
            <a:ext cx="2819400" cy="8128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en-US" sz="2361" b="0" i="0" u="none" strike="noStrike">
                <a:solidFill>
                  <a:srgbClr val="207CD7"/>
                </a:solidFill>
                <a:latin typeface="Pretendard Bold"/>
              </a:rPr>
              <a:t>통합 브랜드 앱 기획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35800" y="2527300"/>
            <a:ext cx="2768600" cy="393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132800"/>
              </a:lnSpc>
            </a:pPr>
            <a:r>
              <a:rPr lang="ko-KR" sz="1713" b="0" i="0" u="none" strike="noStrike">
                <a:solidFill>
                  <a:srgbClr val="2C2C2C"/>
                </a:solidFill>
                <a:ea typeface="Pretendard Bold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3200" y="12319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ko-KR" sz="1845" b="0" i="0" u="none" strike="noStrike">
                <a:solidFill>
                  <a:srgbClr val="FFFFFF"/>
                </a:solidFill>
                <a:ea typeface="Pretendard Bold"/>
              </a:rPr>
              <a:t>프로덕트 팀으로 성공적 전환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결제-확인 절차 분리 및 비동기화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QR 결제 시스템 기획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34126" y="927826"/>
            <a:ext cx="4711699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가천길잡이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1000" y="6591300"/>
            <a:ext cx="10490200" cy="2679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712200"/>
            <a:ext cx="292100" cy="38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82042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121900" y="76962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788400" y="79121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8300" y="2070100"/>
            <a:ext cx="10426700" cy="4165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31000" y="1092200"/>
            <a:ext cx="10490200" cy="838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1252200" y="8559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신규 프로젝트 리딩 및 가치 창출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439400" y="8559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초기 단계 리…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52200" y="8051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Ownership, Think Big, Frugality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439400" y="80518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13" b="0" i="0" u="none" strike="noStrike">
                <a:solidFill>
                  <a:srgbClr val="2C2C2C"/>
                </a:solidFill>
                <a:ea typeface="Pretendard Bold"/>
              </a:rPr>
              <a:t>핵심 역량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52200" y="7543800"/>
            <a:ext cx="4965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상식적 기대 → 비상식적 통찰 (운영 리소스, 비용)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39400" y="7556500"/>
            <a:ext cx="7493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900" b="0" i="0" u="none" strike="noStrike">
                <a:solidFill>
                  <a:srgbClr val="2C2C2C"/>
                </a:solidFill>
                <a:ea typeface="Pretendard Bold"/>
              </a:rPr>
              <a:t>기능 중심 →…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48900" y="6959600"/>
            <a:ext cx="59690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1433" b="0" i="0" u="none" strike="noStrike">
                <a:solidFill>
                  <a:srgbClr val="2C2C2C"/>
                </a:solidFill>
                <a:ea typeface="Pretendard Regular"/>
              </a:rPr>
              <a:t>'목표의식을 가진 프로덕트 팀' 결과 창출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251700" y="69723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성장 경험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363200" y="1282700"/>
            <a:ext cx="32004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ctr">
              <a:lnSpc>
                <a:spcPct val="99600"/>
              </a:lnSpc>
            </a:pPr>
            <a:r>
              <a:rPr lang="en-US" sz="1845" b="0" i="0" u="none" strike="noStrike">
                <a:solidFill>
                  <a:srgbClr val="FFFFFF"/>
                </a:solidFill>
                <a:latin typeface="Pretendard Bold"/>
              </a:rPr>
              <a:t>통합 서비스 기획안 최종 산출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24000" y="4013200"/>
            <a:ext cx="3416300" cy="7620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sz="2000" b="0" i="0" u="none" strike="noStrike">
                <a:solidFill>
                  <a:srgbClr val="2C2C2C"/>
                </a:solidFill>
                <a:ea typeface="Pretendard Regular"/>
              </a:rPr>
              <a:t>잠재 성과 정량 제시 (학식당 대기 시간 50% 단축)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24000" y="927100"/>
            <a:ext cx="35179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altLang="ko-KR" sz="5520" b="0" i="0" u="none" strike="noStrike" dirty="0">
                <a:solidFill>
                  <a:srgbClr val="2C2C2C"/>
                </a:solidFill>
                <a:latin typeface="Pretendard ExtraBold" panose="020B0600000101010101" charset="-127"/>
                <a:ea typeface="Pretendard ExtraBold" panose="020B0600000101010101" charset="-127"/>
              </a:rPr>
              <a:t>가천길잡이</a:t>
            </a:r>
            <a:endParaRPr lang="ko-KR" sz="6000" b="0" i="0" u="none" strike="noStrike" dirty="0">
              <a:solidFill>
                <a:srgbClr val="2C2C2C"/>
              </a:solidFill>
              <a:latin typeface="Pretendard ExtraBold" panose="020B0600000101010101" charset="-127"/>
              <a:ea typeface="Pretendard ExtraBold" panose="020B0600000101010101" charset="-127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74800" y="2933700"/>
            <a:ext cx="36195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QR 결제, 강의실 예약, 셔틀버스 추적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0" y="8623300"/>
            <a:ext cx="16002000" cy="1041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724400" y="9118600"/>
            <a:ext cx="292100" cy="38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803400" y="9118600"/>
            <a:ext cx="292100" cy="3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8400" y="762000"/>
            <a:ext cx="12560300" cy="12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454140" y="8916727"/>
            <a:ext cx="30607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b="0" i="0" u="none" strike="noStrike" dirty="0">
                <a:solidFill>
                  <a:srgbClr val="2C2C2C"/>
                </a:solidFill>
                <a:ea typeface="Pretendard Regular"/>
              </a:rPr>
              <a:t>2021.03 ~ 2027.03</a:t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991100" y="8928100"/>
            <a:ext cx="1447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Bold"/>
              </a:rPr>
              <a:t/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009900" y="8920630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2000" b="0" i="0" u="none" strike="noStrike" dirty="0">
                <a:solidFill>
                  <a:srgbClr val="2C2C2C"/>
                </a:solidFill>
                <a:ea typeface="Pretendard Regular"/>
              </a:rPr>
              <a:t/>
            </a:r>
            <a:endParaRPr lang="ko-KR" sz="2000" b="0" i="0" u="none" strike="noStrike" dirty="0">
              <a:solidFill>
                <a:srgbClr val="2C2C2C"/>
              </a:solidFill>
              <a:ea typeface="Pretendard Regula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089150" y="8919329"/>
            <a:ext cx="9906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ko-KR" altLang="en-US" sz="1433" dirty="0">
                <a:solidFill>
                  <a:srgbClr val="2C2C2C"/>
                </a:solidFill>
                <a:latin typeface="Pretendard Bold"/>
                <a:ea typeface="Pretendard Bold"/>
              </a:rPr>
              <a:t>재학중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24000" y="5448300"/>
            <a:ext cx="4114800" cy="419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800"/>
              <a:t>학사 재학</a:t>
            </a:r>
            <a:endParaRPr lang="en-US" sz="24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438400" y="4088674"/>
            <a:ext cx="11760200" cy="1930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7200" b="0" i="0" u="none" strike="noStrike" dirty="0">
                <a:ea typeface="Pretendard ExtraBold"/>
              </a:rPr>
              <a:t>컴퓨터공학과</a:t>
            </a:r>
            <a:endParaRPr lang="ko-KR" sz="7200" b="0" i="0" u="none" strike="noStrike" dirty="0">
              <a:ea typeface="Pretendard Extra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524000" y="2336800"/>
            <a:ext cx="10972800" cy="13081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6877" b="0" i="0" u="none" strike="noStrike">
                <a:solidFill>
                  <a:srgbClr val="FF0000"/>
                </a:solidFill>
                <a:ea typeface="Pretendard Bold"/>
              </a:rPr>
              <a:t>가천대학교</a:t>
            </a:r>
            <a:endParaRPr lang="en-US" sz="9600" b="0" i="0" u="none" strike="noStrike" dirty="0">
              <a:solidFill>
                <a:srgbClr val="FF0000"/>
              </a:solidFill>
              <a:latin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92300" y="622300"/>
            <a:ext cx="1600200" cy="3175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sz="1290"/>
              <a:t>학력</a:t>
            </a:r>
            <a:endParaRPr lang="en-US" sz="1800" b="0" i="0" u="none" strike="noStrike" dirty="0">
              <a:solidFill>
                <a:srgbClr val="207CD7"/>
              </a:solidFill>
              <a:latin typeface="Pretendard Regular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6205" y="7785100"/>
            <a:ext cx="9969500" cy="1104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6197600"/>
            <a:ext cx="9969500" cy="1104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4597400"/>
            <a:ext cx="9969500" cy="1104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2997200"/>
            <a:ext cx="9969500" cy="11049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397000"/>
            <a:ext cx="9969500" cy="1104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7975600"/>
            <a:ext cx="876300" cy="723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6375400"/>
            <a:ext cx="876300" cy="723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4787900"/>
            <a:ext cx="876300" cy="7239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3187700"/>
            <a:ext cx="876300" cy="7239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0600" y="1587500"/>
            <a:ext cx="876300" cy="723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8280400"/>
            <a:ext cx="749300" cy="7493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3303" y="5842000"/>
            <a:ext cx="2726491" cy="2159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623300" y="80899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/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505700" y="82042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623300" y="64897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/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505700" y="66040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23300" y="48895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Pretendard Bold"/>
                <a:ea typeface="Pretendard Bold"/>
              </a:rPr>
              <a:t/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505700" y="50038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23300" y="32893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30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/>
            </a:r>
            <a:endParaRPr lang="ko-KR" sz="3000" b="0" i="0" u="none" strike="noStrike" dirty="0">
              <a:solidFill>
                <a:srgbClr val="00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505700" y="34036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02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23300" y="1689100"/>
            <a:ext cx="3505200" cy="5334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altLang="ko-KR" sz="2539" b="0" i="0" u="none" strike="noStrike" dirty="0">
                <a:solidFill>
                  <a:srgbClr val="000000"/>
                </a:solidFill>
                <a:latin typeface="Pretendard Bold"/>
                <a:ea typeface="Pretendard Bold"/>
              </a:rPr>
              <a:t>바이브코딩 대회</a:t>
            </a:r>
            <a:endParaRPr lang="ko-KR" sz="30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505700" y="1803400"/>
            <a:ext cx="546100" cy="45720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/>
          <a:p>
            <a:pPr lvl="0">
              <a:lnSpc>
                <a:spcPct val="166000"/>
              </a:lnSpc>
            </a:pPr>
            <a:r>
              <a:rPr lang="en-US" sz="2025" b="0" i="0" u="none" strike="noStrike">
                <a:solidFill>
                  <a:srgbClr val="1879C2"/>
                </a:solidFill>
                <a:latin typeface="Pretendard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619250" y="6273800"/>
            <a:ext cx="3352800" cy="825500"/>
          </a:xfrm>
          <a:prstGeom prst="rect">
            <a:avLst/>
          </a:prstGeom>
        </p:spPr>
        <p:txBody>
          <a:bodyPr lIns="0" tIns="0" rIns="0" bIns="0" rtlCol="0" anchor="ctr">
            <a:noAutofit/>
          </a:bodyPr>
          <a:lstStyle/>
          <a:p>
            <a:pPr lvl="0">
              <a:lnSpc>
                <a:spcPct val="116199"/>
              </a:lnSpc>
            </a:pPr>
            <a:r>
              <a:rPr lang="ko-KR" altLang="en-US" sz="2300" b="0" i="0" u="none" strike="noStrike" dirty="0">
                <a:solidFill>
                  <a:srgbClr val="2C2C2C"/>
                </a:solidFill>
                <a:ea typeface="Pretendard Regular"/>
              </a:rPr>
              <a:t/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74800" y="21463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en-US" sz="2000" b="0" i="0" u="none" strike="noStrike">
                <a:solidFill>
                  <a:srgbClr val="207CD7"/>
                </a:solidFill>
                <a:latin typeface="Pretendard Bold"/>
              </a:rPr>
              <a:t/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24000" y="927100"/>
            <a:ext cx="3543300" cy="1282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>
              <a:lnSpc>
                <a:spcPct val="99600"/>
              </a:lnSpc>
            </a:pPr>
            <a:r>
              <a:rPr lang="ko-KR" sz="3400" b="0" i="0" u="none" strike="noStrike">
                <a:solidFill>
                  <a:srgbClr val="2C2C2C"/>
                </a:solidFill>
                <a:ea typeface="Pretendard ExtraBold"/>
              </a:rPr>
              <a:t>바이브코딩 대회 우수상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47483648" y="-1600669900"/>
            <a:ext cx="2147483647" cy="2147483647"/>
            <a:chOff x="0" y="0"/>
            <a:chExt cx="0" cy="0"/>
          </a:xfrm>
        </p:grpSpPr>
      </p:grp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"/>
            <a:ext cx="190500" cy="105283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6700" y="4279900"/>
            <a:ext cx="863600" cy="17272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6731000"/>
            <a:ext cx="10045700" cy="2413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937000"/>
            <a:ext cx="10045700" cy="241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1143000"/>
            <a:ext cx="10045700" cy="2413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7937500"/>
            <a:ext cx="19431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271000" y="2336800"/>
            <a:ext cx="19431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38200" y="5130800"/>
            <a:ext cx="9525000" cy="25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3797300"/>
            <a:ext cx="381000" cy="50800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0795000" y="73533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Email: wooxx3377@gachon.ac.kr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20000" y="78105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2370" b="0" i="0" u="none" strike="noStrike">
                <a:solidFill>
                  <a:srgbClr val="2C2C2C"/>
                </a:solidFill>
                <a:ea typeface="Pretendard Bold"/>
              </a:rPr>
              <a:t>010-8783-4492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20000" y="75057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Phone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5000" y="1752600"/>
            <a:ext cx="5664200" cy="1219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342900" lvl="0" indent="-342900" algn="l">
              <a:lnSpc>
                <a:spcPct val="132800"/>
              </a:lnSpc>
              <a:buClr>
                <a:srgbClr val="2C2C2C"/>
              </a:buClr>
              <a:buFont typeface="Arial"/>
              <a:buChar char="●"/>
            </a:pPr>
            <a:r>
              <a:rPr lang="ko-KR" sz="2100" b="0" i="0" u="none" strike="noStrike">
                <a:solidFill>
                  <a:srgbClr val="2C2C2C"/>
                </a:solidFill>
                <a:ea typeface="Pretendard Regular"/>
              </a:rPr>
              <a:t>김유신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20000" y="2209800"/>
            <a:ext cx="2133600" cy="4953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119" b="0" i="0" u="none" strike="noStrike">
                <a:solidFill>
                  <a:srgbClr val="2C2C2C"/>
                </a:solidFill>
                <a:ea typeface="Pretendard Bold"/>
              </a:rPr>
              <a:t>https://github.com/yushin55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20000" y="1892300"/>
            <a:ext cx="939800" cy="330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16199"/>
              </a:lnSpc>
            </a:pPr>
            <a:r>
              <a:rPr lang="ko-KR" sz="1290" b="0" i="0" u="none" strike="noStrike">
                <a:solidFill>
                  <a:srgbClr val="9CB8D0"/>
                </a:solidFill>
                <a:ea typeface="Pretendard Bold"/>
              </a:rPr>
              <a:t>GitHub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24000" y="4013200"/>
            <a:ext cx="3416300" cy="11684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132800"/>
              </a:lnSpc>
            </a:pPr>
            <a:r>
              <a:rPr lang="en-US" sz="2000" b="0" i="0" u="none" strike="noStrike">
                <a:solidFill>
                  <a:srgbClr val="2C2C2C"/>
                </a:solidFill>
                <a:latin typeface="Pretendard Regular"/>
              </a:rPr>
              <a:t>https://www.linkedin.com/in/yushin-kim-041ba037b/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74800" y="2933700"/>
            <a:ext cx="2209800" cy="3556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1433" b="0" i="0" u="none" strike="noStrike">
                <a:solidFill>
                  <a:srgbClr val="207CD7"/>
                </a:solidFill>
                <a:latin typeface="Pretendard Bold"/>
              </a:rPr>
              <a:t>LinkedIn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6750" y="901700"/>
            <a:ext cx="4584700" cy="19812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lvl="0" algn="l">
              <a:lnSpc>
                <a:spcPct val="99600"/>
              </a:lnSpc>
            </a:pPr>
            <a:r>
              <a:rPr lang="en-US" sz="6000" b="0" i="0" u="none" strike="noStrike" dirty="0">
                <a:solidFill>
                  <a:srgbClr val="2C2C2C"/>
                </a:solidFill>
                <a:latin typeface="Pretendard ExtraBold"/>
              </a:rPr>
              <a:t>연락처</a:t>
            </a:r>
            <a:endParaRPr lang="ko-KR" sz="6000" b="0" i="0" u="none" strike="noStrike" dirty="0">
              <a:solidFill>
                <a:srgbClr val="2C2C2C"/>
              </a:solidFill>
              <a:ea typeface="Pretendard Extra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423</Words>
  <Application>Microsoft Office PowerPoint</Application>
  <PresentationFormat>사용자 지정</PresentationFormat>
  <Paragraphs>116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 Bold</vt:lpstr>
      <vt:lpstr>Pretendard ExtraBold</vt:lpstr>
      <vt:lpstr>Arial</vt:lpstr>
      <vt:lpstr>Pretendard Regular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유신 김</cp:lastModifiedBy>
  <cp:revision>5</cp:revision>
  <dcterms:created xsi:type="dcterms:W3CDTF">2006-08-16T00:00:00Z</dcterms:created>
  <dcterms:modified xsi:type="dcterms:W3CDTF">2025-05-25T11:57:58Z</dcterms:modified>
</cp:coreProperties>
</file>