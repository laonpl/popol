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</p:sldIdLst>
  <p:sldSz cx="18288000" cy="10287000"/>
  <p:notesSz cx="6858000" cy="9144000"/>
  <p:embeddedFontLst>
    <p:embeddedFont>
      <p:font typeface="Pretendard Bold" panose="020B0600000101010101" charset="-127"/>
      <p:bold r:id="rId10"/>
    </p:embeddedFont>
    <p:embeddedFont>
      <p:font typeface="Pretendard ExtraBold" panose="020B0600000101010101" charset="-127"/>
      <p:bold r:id="rId11"/>
    </p:embeddedFont>
    <p:embeddedFont>
      <p:font typeface="Pretendard Regular" panose="020B0600000101010101" charset="-127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3" d="100"/>
          <a:sy n="73" d="100"/>
        </p:scale>
        <p:origin x="594" y="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7" Type="http://schemas.openxmlformats.org/officeDocument/2006/relationships/slide" Target="slides/slide1.xml"/><Relationship Id="rId13" Type="http://schemas.openxmlformats.org/officeDocument/2006/relationships/presProps" Target="presProps.xml"/><Relationship Id="rId18" Type="http://schemas.openxmlformats.org/officeDocument/2006/relationships/slide" Target="slides/slide2.xml"/><Relationship Id="rId19" Type="http://schemas.openxmlformats.org/officeDocument/2006/relationships/slide" Target="slides/slide3.xml"/><Relationship Id="rId12" Type="http://schemas.openxmlformats.org/officeDocument/2006/relationships/font" Target="fonts/font3.fntdata"/><Relationship Id="rId20" Type="http://schemas.openxmlformats.org/officeDocument/2006/relationships/slide" Target="slides/slide4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1" Type="http://schemas.openxmlformats.org/officeDocument/2006/relationships/slide" Target="slides/slide5.xml"/><Relationship Id="rId11" Type="http://schemas.openxmlformats.org/officeDocument/2006/relationships/font" Target="fonts/font2.fntdata"/><Relationship Id="rId22" Type="http://schemas.openxmlformats.org/officeDocument/2006/relationships/slide" Target="slides/slide6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23" Type="http://schemas.openxmlformats.org/officeDocument/2006/relationships/slide" Target="slides/slide7.xml"/><Relationship Id="rId24" Type="http://schemas.openxmlformats.org/officeDocument/2006/relationships/slide" Target="slides/slide8.xml"/><Relationship Id="rId14" Type="http://schemas.openxmlformats.org/officeDocument/2006/relationships/viewProps" Target="viewProps.xml"/><Relationship Id="rId25" Type="http://schemas.openxmlformats.org/officeDocument/2006/relationships/slide" Target="slides/slide9.xml"/><Relationship Id="rId26" Type="http://schemas.openxmlformats.org/officeDocument/2006/relationships/slide" Target="slides/slide10.xml"/><Relationship Id="rId27" Type="http://schemas.openxmlformats.org/officeDocument/2006/relationships/slide" Target="slides/slide11.xml"/><Relationship Id="rId28" Type="http://schemas.openxmlformats.org/officeDocument/2006/relationships/slide" Target="slides/slide12.xml"/><Relationship Id="rId29" Type="http://schemas.openxmlformats.org/officeDocument/2006/relationships/slide" Target="slides/slide13.xml"/><Relationship Id="rId30" Type="http://schemas.openxmlformats.org/officeDocument/2006/relationships/slide" Target="slides/slide14.xml"/><Relationship Id="rId31" Type="http://schemas.openxmlformats.org/officeDocument/2006/relationships/slide" Target="slides/slide15.xml"/><Relationship Id="rId32" Type="http://schemas.openxmlformats.org/officeDocument/2006/relationships/slide" Target="slides/slide16.xml"/><Relationship Id="rId33" Type="http://schemas.openxmlformats.org/officeDocument/2006/relationships/slide" Target="slides/slide1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/>
              <a:t/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/>
            </a:r>
          </a:p>
          <a:p>
            <a:pPr lvl="1"/>
            <a:r>
              <a:rPr/>
              <a:t/>
            </a:r>
          </a:p>
          <a:p>
            <a:pPr lvl="2"/>
            <a:r>
              <a:rPr/>
              <a:t/>
            </a:r>
          </a:p>
          <a:p>
            <a:pPr lvl="3"/>
            <a:r>
              <a:rPr/>
              <a:t/>
            </a:r>
          </a:p>
          <a:p>
            <a:pPr lvl="4"/>
            <a:r>
              <a:rPr/>
              <a:t/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/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/>
              <a:t/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/>
              <a:t/>
            </a:r>
          </a:p>
          <a:p>
            <a:pPr lvl="1"/>
            <a:r>
              <a:rPr/>
              <a:t/>
            </a:r>
          </a:p>
          <a:p>
            <a:pPr lvl="2"/>
            <a:r>
              <a:rPr/>
              <a:t/>
            </a:r>
          </a:p>
          <a:p>
            <a:pPr lvl="3"/>
            <a:r>
              <a:rPr/>
              <a:t/>
            </a:r>
          </a:p>
          <a:p>
            <a:pPr lvl="4"/>
            <a:r>
              <a:rPr/>
              <a:t/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/>
              <a:t/>
            </a:r>
          </a:p>
          <a:p>
            <a:pPr lvl="1"/>
            <a:r>
              <a:rPr/>
              <a:t/>
            </a:r>
          </a:p>
          <a:p>
            <a:pPr lvl="2"/>
            <a:r>
              <a:rPr/>
              <a:t/>
            </a:r>
          </a:p>
          <a:p>
            <a:pPr lvl="3"/>
            <a:r>
              <a:rPr/>
              <a:t/>
            </a:r>
          </a:p>
          <a:p>
            <a:pPr lvl="4"/>
            <a:r>
              <a:rPr/>
              <a:t/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/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/>
              <a:t/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/>
              <a:t/>
            </a:r>
          </a:p>
          <a:p>
            <a:pPr lvl="1"/>
            <a:r>
              <a:rPr/>
              <a:t/>
            </a:r>
          </a:p>
          <a:p>
            <a:pPr lvl="2"/>
            <a:r>
              <a:rPr/>
              <a:t/>
            </a:r>
          </a:p>
          <a:p>
            <a:pPr lvl="3"/>
            <a:r>
              <a:rPr/>
              <a:t/>
            </a:r>
          </a:p>
          <a:p>
            <a:pPr lvl="4"/>
            <a:r>
              <a:rPr/>
              <a:t/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/>
              <a:t/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/>
              <a:t/>
            </a:r>
          </a:p>
          <a:p>
            <a:pPr lvl="1"/>
            <a:r>
              <a:rPr/>
              <a:t/>
            </a:r>
          </a:p>
          <a:p>
            <a:pPr lvl="2"/>
            <a:r>
              <a:rPr/>
              <a:t/>
            </a:r>
          </a:p>
          <a:p>
            <a:pPr lvl="3"/>
            <a:r>
              <a:rPr/>
              <a:t/>
            </a:r>
          </a:p>
          <a:p>
            <a:pPr lvl="4"/>
            <a:r>
              <a:rPr/>
              <a:t/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/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/>
              <a:t/>
            </a:r>
          </a:p>
          <a:p>
            <a:pPr lvl="1"/>
            <a:r>
              <a:rPr/>
              <a:t/>
            </a:r>
          </a:p>
          <a:p>
            <a:pPr lvl="2"/>
            <a:r>
              <a:rPr/>
              <a:t/>
            </a:r>
          </a:p>
          <a:p>
            <a:pPr lvl="3"/>
            <a:r>
              <a:rPr/>
              <a:t/>
            </a:r>
          </a:p>
          <a:p>
            <a:pPr lvl="4"/>
            <a:r>
              <a:rPr/>
              <a:t/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/>
              <a:t/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/>
              <a:t/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/>
              <a:t/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/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/>
              <a:t/>
            </a:r>
          </a:p>
          <a:p>
            <a:pPr lvl="1"/>
            <a:r>
              <a:rPr/>
              <a:t/>
            </a:r>
          </a:p>
          <a:p>
            <a:pPr lvl="2"/>
            <a:r>
              <a:rPr/>
              <a:t/>
            </a:r>
          </a:p>
          <a:p>
            <a:pPr lvl="3"/>
            <a:r>
              <a:rPr/>
              <a:t/>
            </a:r>
          </a:p>
          <a:p>
            <a:pPr lvl="4"/>
            <a:r>
              <a:rPr/>
              <a:t/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/>
              <a:t/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/>
              <a:t/>
            </a:r>
          </a:p>
          <a:p>
            <a:pPr lvl="1"/>
            <a:r>
              <a:rPr/>
              <a:t/>
            </a:r>
          </a:p>
          <a:p>
            <a:pPr lvl="2"/>
            <a:r>
              <a:rPr/>
              <a:t/>
            </a:r>
          </a:p>
          <a:p>
            <a:pPr lvl="3"/>
            <a:r>
              <a:rPr/>
              <a:t/>
            </a:r>
          </a:p>
          <a:p>
            <a:pPr lvl="4"/>
            <a:r>
              <a:rPr/>
              <a:t/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/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/>
              <a:t/>
            </a:r>
          </a:p>
          <a:p>
            <a:pPr lvl="1"/>
            <a:r>
              <a:rPr/>
              <a:t/>
            </a:r>
          </a:p>
          <a:p>
            <a:pPr lvl="2"/>
            <a:r>
              <a:rPr/>
              <a:t/>
            </a:r>
          </a:p>
          <a:p>
            <a:pPr lvl="3"/>
            <a:r>
              <a:rPr/>
              <a:t/>
            </a:r>
          </a:p>
          <a:p>
            <a:pPr lvl="4"/>
            <a:r>
              <a:rPr/>
              <a:t/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13.png"/><Relationship Id="rId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14.png"/><Relationship Id="rId9" Type="http://schemas.openxmlformats.org/officeDocument/2006/relationships/image" Target="../media/image4.png"/></Relationships>
</file>

<file path=ppt/slides/_rels/slide5.xml.rels><?xml version="1.0" encoding="UTF-8" standalone="yes"?>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13.png"/></Relationships>
</file>

<file path=ppt/slides/_rels/slide6.xml.rels><?xml version="1.0" encoding="UTF-8" standalone="yes"?>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13.png"/><Relationship Id="rId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14.png"/><Relationship Id="rId9" Type="http://schemas.openxmlformats.org/officeDocument/2006/relationships/image" Target="../media/image4.png"/></Relationships>
</file>

<file path=ppt/slides/_rels/slide7.xml.rels><?xml version="1.0" encoding="UTF-8" standalone="yes"?>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13.png"/></Relationships>
</file>

<file path=ppt/slides/_rels/slide8.xml.rels><?xml version="1.0" encoding="UTF-8" standalone="yes"?>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13.png"/><Relationship Id="rId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14.png"/><Relationship Id="rId9" Type="http://schemas.openxmlformats.org/officeDocument/2006/relationships/image" Target="../media/image4.png"/></Relationships>
</file>

<file path=ppt/slides/_rels/slide9.xml.rels><?xml version="1.0" encoding="UTF-8" standalone="yes"?>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13.png"/></Relationships>
</file>

<file path=ppt/slides/_rels/slide10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13.png"/></Relationships>
</file>

<file path=ppt/slides/_rels/slide12.xml.rels><?xml version="1.0" encoding="UTF-8" standalone="yes"?>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10" Type="http://schemas.openxmlformats.org/officeDocument/2006/relationships/image" Target="../media/image13.png"/><Relationship Id="rId4" Type="http://schemas.openxmlformats.org/officeDocument/2006/relationships/image" Target="../media/image30.png"/><Relationship Id="rId9" Type="http://schemas.openxmlformats.org/officeDocument/2006/relationships/image" Target="../media/image10.png"/></Relationships>
</file>

<file path=ppt/slides/_rels/slide13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13.png"/><Relationship Id="rId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14.png"/><Relationship Id="rId9" Type="http://schemas.openxmlformats.org/officeDocument/2006/relationships/image" Target="../media/image4.png"/></Relationships>
</file>

<file path=ppt/slides/_rels/slide15.xml.rels><?xml version="1.0" encoding="UTF-8" standalone="yes"?>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13.png"/></Relationships>
</file>

<file path=ppt/slides/_rels/slide16.xml.rels><?xml version="1.0" encoding="UTF-8" standalone="yes"?>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10" Type="http://schemas.openxmlformats.org/officeDocument/2006/relationships/image" Target="../media/image13.png"/><Relationship Id="rId4" Type="http://schemas.openxmlformats.org/officeDocument/2006/relationships/image" Target="../media/image30.png"/><Relationship Id="rId9" Type="http://schemas.openxmlformats.org/officeDocument/2006/relationships/image" Target="../media/image10.png"/></Relationships>
</file>

<file path=ppt/slides/_rels/slide17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-2147483648" y="-1600669900"/>
            <a:ext cx="2147483647" cy="2147483647"/>
            <a:chOff x="0" y="0"/>
            <a:chExt cx="0" cy="0"/>
          </a:xfrm>
        </p:grpSpPr>
      </p:grp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300"/>
            <a:ext cx="190500" cy="10528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700" y="4279900"/>
            <a:ext cx="863600" cy="17272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8623300"/>
            <a:ext cx="16002000" cy="1041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8400" y="762000"/>
            <a:ext cx="12560300" cy="127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524000" y="5448300"/>
            <a:ext cx="4114800" cy="4191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sz="1780"/>
              <a:t>TARGET</a:t>
            </a:r>
            <a:endParaRPr lang="en-US" sz="2400" b="0" i="0" u="none" strike="noStrike" dirty="0">
              <a:solidFill>
                <a:srgbClr val="207CD7"/>
              </a:solidFill>
              <a:latin typeface="Pretendard Regular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2438400" y="4088674"/>
            <a:ext cx="11760200" cy="19304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ko-KR" altLang="en-US" sz="5158" b="0" i="0" u="none" strike="noStrike" dirty="0">
                <a:ea typeface="Pretendard ExtraBold"/>
              </a:rPr>
              <a:t>엔아이티서비스 (NIT Service) Cloud Engineer (신입/경력)</a:t>
            </a:r>
            <a:endParaRPr lang="ko-KR" sz="7200" b="0" i="0" u="none" strike="noStrike" dirty="0">
              <a:ea typeface="Pretendard Extra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524000" y="2336800"/>
            <a:ext cx="10972800" cy="13081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ko-KR" altLang="en-US" sz="6877" b="0" i="0" u="none" strike="noStrike">
                <a:solidFill>
                  <a:srgbClr val="FF0000"/>
                </a:solidFill>
                <a:ea typeface="Pretendard Bold"/>
              </a:rPr>
              <a:t>김유신</a:t>
            </a:r>
            <a:endParaRPr lang="en-US" sz="9600" b="0" i="0" u="none" strike="noStrike" dirty="0">
              <a:solidFill>
                <a:srgbClr val="FF0000"/>
              </a:solidFill>
              <a:latin typeface="Pretendard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892300" y="4794250"/>
            <a:ext cx="1600200" cy="3175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sz="1400"/>
              <a:t>김유신의 포트폴리오</a:t>
            </a:r>
            <a:endParaRPr lang="en-US" sz="1800" b="0" i="0" u="none" strike="noStrike" dirty="0">
              <a:solidFill>
                <a:srgbClr val="207CD7"/>
              </a:solidFill>
              <a:latin typeface="Pretendard Regula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47483648" y="-160066990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300"/>
            <a:ext cx="190500" cy="10528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700" y="4279900"/>
            <a:ext cx="863600" cy="1727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6205" y="7785100"/>
            <a:ext cx="9969500" cy="1104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0" y="6197600"/>
            <a:ext cx="9969500" cy="1104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0" y="4597400"/>
            <a:ext cx="9969500" cy="1104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0" y="2997200"/>
            <a:ext cx="9969500" cy="1104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0" y="1397000"/>
            <a:ext cx="9969500" cy="1104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0600" y="7975600"/>
            <a:ext cx="876300" cy="723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0600" y="6375400"/>
            <a:ext cx="876300" cy="723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0600" y="4787900"/>
            <a:ext cx="876300" cy="7239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0600" y="3187700"/>
            <a:ext cx="876300" cy="7239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0600" y="1587500"/>
            <a:ext cx="876300" cy="7239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600" y="8280400"/>
            <a:ext cx="749300" cy="7493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13303" y="5842000"/>
            <a:ext cx="2726491" cy="21590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838200" y="5130800"/>
            <a:ext cx="9525000" cy="254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8623300" y="8089900"/>
            <a:ext cx="3505200" cy="53340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/>
          <a:p>
            <a:pPr lvl="0">
              <a:lnSpc>
                <a:spcPct val="166000"/>
              </a:lnSpc>
            </a:pPr>
            <a:r>
              <a:rPr lang="en-US" altLang="ko-KR" sz="1400" b="0" i="0" u="none" strike="noStrike" dirty="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KKSC 동아리 창설, 가천대 학생 3가지 불편 해소 가천…</a:t>
            </a:r>
            <a:endParaRPr lang="ko-KR" sz="3000" b="0" i="0" u="none" strike="noStrike" dirty="0">
              <a:solidFill>
                <a:srgbClr val="000000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7505700" y="8204200"/>
            <a:ext cx="546100" cy="45720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/>
          <a:p>
            <a:pPr lvl="0">
              <a:lnSpc>
                <a:spcPct val="166000"/>
              </a:lnSpc>
            </a:pPr>
            <a:r>
              <a:rPr lang="en-US" sz="2025" b="0" i="0" u="none" strike="noStrike">
                <a:solidFill>
                  <a:srgbClr val="1879C2"/>
                </a:solidFill>
                <a:latin typeface="Pretendard Bold"/>
              </a:rPr>
              <a:t>05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623300" y="6489700"/>
            <a:ext cx="3505200" cy="53340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/>
          <a:p>
            <a:pPr lvl="0">
              <a:lnSpc>
                <a:spcPct val="166000"/>
              </a:lnSpc>
            </a:pPr>
            <a:r>
              <a:rPr lang="en-US" altLang="ko-KR" sz="1400" b="0" i="0" u="none" strike="noStrike" dirty="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온디바이스 기반 접대적 섭동 기술을 활용한 딥페이크 방지 …</a:t>
            </a:r>
            <a:endParaRPr lang="ko-KR" sz="3000" b="0" i="0" u="none" strike="noStrike" dirty="0">
              <a:solidFill>
                <a:srgbClr val="000000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7505700" y="6604000"/>
            <a:ext cx="546100" cy="45720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/>
          <a:p>
            <a:pPr lvl="0">
              <a:lnSpc>
                <a:spcPct val="166000"/>
              </a:lnSpc>
            </a:pPr>
            <a:r>
              <a:rPr lang="en-US" sz="2025" b="0" i="0" u="none" strike="noStrike">
                <a:solidFill>
                  <a:srgbClr val="1879C2"/>
                </a:solidFill>
                <a:latin typeface="Pretendard Bold"/>
              </a:rPr>
              <a:t>04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623300" y="4889500"/>
            <a:ext cx="3505200" cy="53340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/>
          <a:p>
            <a:pPr lvl="0">
              <a:lnSpc>
                <a:spcPct val="166000"/>
              </a:lnSpc>
            </a:pPr>
            <a:r>
              <a:rPr lang="en-US" altLang="ko-KR" sz="2539" dirty="0">
                <a:solidFill>
                  <a:srgbClr val="000000"/>
                </a:solidFill>
                <a:latin typeface="Pretendard Bold"/>
                <a:ea typeface="Pretendard Bold"/>
              </a:rPr>
              <a:t>Daily Snippet</a:t>
            </a:r>
            <a:endParaRPr lang="ko-KR" sz="30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7505700" y="5003800"/>
            <a:ext cx="546100" cy="45720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/>
          <a:p>
            <a:pPr lvl="0">
              <a:lnSpc>
                <a:spcPct val="166000"/>
              </a:lnSpc>
            </a:pPr>
            <a:r>
              <a:rPr lang="en-US" sz="2025" b="0" i="0" u="none" strike="noStrike">
                <a:solidFill>
                  <a:srgbClr val="1879C2"/>
                </a:solidFill>
                <a:latin typeface="Pretendard Bold"/>
              </a:rPr>
              <a:t>03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623300" y="3289300"/>
            <a:ext cx="3505200" cy="53340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/>
          <a:p>
            <a:pPr lvl="0">
              <a:lnSpc>
                <a:spcPct val="166000"/>
              </a:lnSpc>
            </a:pPr>
            <a:r>
              <a:rPr lang="en-US" altLang="ko-KR" sz="1400" b="0" i="0" u="none" strike="noStrike" dirty="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2등 수상, QRious: 교수·학생·선후배 친밀도 증진 …</a:t>
            </a:r>
            <a:endParaRPr lang="ko-KR" sz="3000" b="0" i="0" u="none" strike="noStrike" dirty="0">
              <a:solidFill>
                <a:srgbClr val="000000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7505700" y="3403600"/>
            <a:ext cx="546100" cy="45720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/>
          <a:p>
            <a:pPr lvl="0">
              <a:lnSpc>
                <a:spcPct val="166000"/>
              </a:lnSpc>
            </a:pPr>
            <a:r>
              <a:rPr lang="en-US" sz="2025" b="0" i="0" u="none" strike="noStrike">
                <a:solidFill>
                  <a:srgbClr val="1879C2"/>
                </a:solidFill>
                <a:latin typeface="Pretendard Bold"/>
              </a:rPr>
              <a:t>02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623300" y="1689100"/>
            <a:ext cx="3505200" cy="53340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/>
          <a:p>
            <a:pPr lvl="0">
              <a:lnSpc>
                <a:spcPct val="166000"/>
              </a:lnSpc>
            </a:pPr>
            <a:r>
              <a:rPr lang="en-US" altLang="ko-KR" sz="2539" b="0" i="0" u="none" strike="noStrike" dirty="0">
                <a:solidFill>
                  <a:srgbClr val="000000"/>
                </a:solidFill>
                <a:latin typeface="Pretendard Bold"/>
                <a:ea typeface="Pretendard Bold"/>
              </a:rPr>
              <a:t>소개</a:t>
            </a:r>
            <a:endParaRPr lang="ko-KR" sz="30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7505700" y="1803400"/>
            <a:ext cx="546100" cy="45720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/>
          <a:p>
            <a:pPr lvl="0">
              <a:lnSpc>
                <a:spcPct val="166000"/>
              </a:lnSpc>
            </a:pPr>
            <a:r>
              <a:rPr lang="en-US" sz="2025" b="0" i="0" u="none" strike="noStrike">
                <a:solidFill>
                  <a:srgbClr val="1879C2"/>
                </a:solidFill>
                <a:latin typeface="Pretendard Bold"/>
              </a:rPr>
              <a:t>01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619250" y="6273800"/>
            <a:ext cx="3352800" cy="825500"/>
          </a:xfrm>
          <a:prstGeom prst="rect">
            <a:avLst/>
          </a:prstGeom>
        </p:spPr>
        <p:txBody>
          <a:bodyPr lIns="0" tIns="0" rIns="0" bIns="0" rtlCol="0" anchor="ctr">
            <a:noAutofit/>
          </a:bodyPr>
          <a:lstStyle/>
          <a:p>
            <a:pPr lvl="0">
              <a:lnSpc>
                <a:spcPct val="116199"/>
              </a:lnSpc>
            </a:pPr>
            <a:r>
              <a:rPr lang="ko-KR" altLang="en-US" sz="1400" b="0" i="0" u="none" strike="noStrike" dirty="0">
                <a:solidFill>
                  <a:srgbClr val="2C2C2C"/>
                </a:solidFill>
                <a:ea typeface="Pretendard Regular"/>
              </a:rPr>
              <a:t>취준생들을 위한 맞춤형 포트폴리오 제작 서비스 Fitpoly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574800" y="2146300"/>
            <a:ext cx="22098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>
              <a:lnSpc>
                <a:spcPct val="99600"/>
              </a:lnSpc>
            </a:pPr>
            <a:r>
              <a:rPr lang="en-US" sz="1433" b="0" i="0" u="none" strike="noStrike">
                <a:solidFill>
                  <a:srgbClr val="207CD7"/>
                </a:solidFill>
                <a:latin typeface="Pretendard Bold"/>
              </a:rPr>
              <a:t>기술 스택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524000" y="927100"/>
            <a:ext cx="3543300" cy="12827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>
              <a:lnSpc>
                <a:spcPct val="99600"/>
              </a:lnSpc>
            </a:pPr>
            <a:r>
              <a:rPr lang="ko-KR" sz="6624" b="0" i="0" u="none" strike="noStrike">
                <a:solidFill>
                  <a:srgbClr val="2C2C2C"/>
                </a:solidFill>
                <a:ea typeface="Pretendard ExtraBold"/>
              </a:rPr>
              <a:t>목차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47483648" y="-160066990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300"/>
            <a:ext cx="190500" cy="10528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700" y="4279900"/>
            <a:ext cx="863600" cy="1727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6731000"/>
            <a:ext cx="10045700" cy="2413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937000"/>
            <a:ext cx="10045700" cy="2413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1143000"/>
            <a:ext cx="10045700" cy="2413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9271000" y="5137150"/>
            <a:ext cx="1943100" cy="25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838200" y="5130800"/>
            <a:ext cx="9525000" cy="254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74800" y="3797300"/>
            <a:ext cx="381000" cy="508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10795000" y="4552950"/>
            <a:ext cx="5664200" cy="1219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342900" lvl="0" indent="-342900" algn="l">
              <a:lnSpc>
                <a:spcPct val="132800"/>
              </a:lnSpc>
              <a:buClr>
                <a:srgbClr val="2C2C2C"/>
              </a:buClr>
              <a:buFont typeface="Arial"/>
              <a:buChar char="●"/>
            </a:pPr>
            <a:r>
              <a:rPr lang="ko-KR" sz="2100" b="0" i="0" u="none" strike="noStrike">
                <a:solidFill>
                  <a:srgbClr val="2C2C2C"/>
                </a:solidFill>
                <a:ea typeface="Pretendard Regular"/>
              </a:rPr>
              <a:t>강점 김유신의 포트폴리오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524000" y="4013200"/>
            <a:ext cx="3416300" cy="11684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en-US" sz="1840" b="0" i="0" u="none" strike="noStrike">
                <a:solidFill>
                  <a:srgbClr val="2C2C2C"/>
                </a:solidFill>
                <a:latin typeface="Pretendard Regular"/>
              </a:rPr>
              <a:t>TypeScript, JavaScript, C, PyTorch, Next.js, Node.js, TensorFlow, React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74800" y="2933700"/>
            <a:ext cx="22098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en-US" sz="1433" b="0" i="0" u="none" strike="noStrike">
                <a:solidFill>
                  <a:srgbClr val="207CD7"/>
                </a:solidFill>
                <a:latin typeface="Pretendard Bold"/>
              </a:rPr>
              <a:t>기술 요약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66750" y="901700"/>
            <a:ext cx="4584700" cy="1981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en-US" sz="6000" b="0" i="0" u="none" strike="noStrike" dirty="0">
                <a:solidFill>
                  <a:srgbClr val="2C2C2C"/>
                </a:solidFill>
                <a:latin typeface="Pretendard ExtraBold"/>
              </a:rPr>
              <a:t>소개</a:t>
            </a:r>
            <a:endParaRPr lang="ko-KR" sz="6000" b="0" i="0" u="none" strike="noStrike" dirty="0">
              <a:solidFill>
                <a:srgbClr val="2C2C2C"/>
              </a:solidFill>
              <a:ea typeface="Pretendard Extra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47483648" y="-160066990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300"/>
            <a:ext cx="190500" cy="10528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700" y="4279900"/>
            <a:ext cx="863600" cy="1727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41200" y="4711700"/>
            <a:ext cx="5080000" cy="4406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82500" y="5041900"/>
            <a:ext cx="4597400" cy="2247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41200" y="3657600"/>
            <a:ext cx="5080000" cy="952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4711700"/>
            <a:ext cx="5080000" cy="4406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5041900"/>
            <a:ext cx="4597400" cy="2247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1000" y="3657600"/>
            <a:ext cx="5080000" cy="952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1000" y="1143000"/>
            <a:ext cx="10490200" cy="21463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7416800" y="2743200"/>
            <a:ext cx="292100" cy="381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7416800" y="2286000"/>
            <a:ext cx="292100" cy="38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838200" y="5130800"/>
            <a:ext cx="9525000" cy="25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74800" y="3797300"/>
            <a:ext cx="381000" cy="508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6985000" y="7556500"/>
            <a:ext cx="4648200" cy="1117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1900" b="0" i="0" u="none" strike="noStrike">
                <a:solidFill>
                  <a:srgbClr val="2C2C2C"/>
                </a:solidFill>
                <a:ea typeface="Pretendard Regular"/>
              </a:rPr>
              <a:t>툴 Illustrator, After Effects, VS Code, GitHub, Slack, Notion, Figma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410700" y="2133600"/>
            <a:ext cx="56642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en-US" sz="1433" b="0" i="0" u="none" strike="noStrike">
                <a:solidFill>
                  <a:srgbClr val="2C2C2C"/>
                </a:solidFill>
                <a:latin typeface="Pretendard Regular"/>
              </a:rPr>
              <a:t>TypeScript, JavaScript, C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734300" y="2146300"/>
            <a:ext cx="15875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1433" b="0" i="0" u="none" strike="noStrike">
                <a:solidFill>
                  <a:srgbClr val="2C2C2C"/>
                </a:solidFill>
                <a:ea typeface="Pretendard Bold"/>
              </a:rPr>
              <a:t>언어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524000" y="4013200"/>
            <a:ext cx="3416300" cy="11684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PyTorch, Next.js, Node.js, TensorFlow, React, Vue.js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574800" y="2933700"/>
            <a:ext cx="33655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en-US" sz="1433" b="0" i="0" u="none" strike="noStrike">
                <a:solidFill>
                  <a:srgbClr val="207CD7"/>
                </a:solidFill>
                <a:latin typeface="Pretendard Bold"/>
              </a:rPr>
              <a:t>프레임워크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24000" y="927100"/>
            <a:ext cx="3517900" cy="1981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en-US" altLang="ko-KR" sz="6000" dirty="0">
                <a:solidFill>
                  <a:srgbClr val="2C2C2C"/>
                </a:solidFill>
                <a:latin typeface="Pretendard ExtraBold"/>
                <a:ea typeface="Pretendard ExtraBold"/>
              </a:rPr>
              <a:t>기술 스택</a:t>
            </a:r>
            <a:endParaRPr lang="ko-KR" sz="6000" b="0" i="0" u="none" strike="noStrike" dirty="0">
              <a:solidFill>
                <a:srgbClr val="2C2C2C"/>
              </a:solidFill>
              <a:ea typeface="Pretendard Extra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47483648" y="-160066990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300"/>
            <a:ext cx="190500" cy="10528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700" y="4279900"/>
            <a:ext cx="863600" cy="1727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0200" y="8382000"/>
            <a:ext cx="10490200" cy="863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0200" y="7454900"/>
            <a:ext cx="10490200" cy="863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0200" y="6527800"/>
            <a:ext cx="10490200" cy="863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0200" y="5588000"/>
            <a:ext cx="10490200" cy="863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0200" y="4622800"/>
            <a:ext cx="10490200" cy="8636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79500" y="1993900"/>
            <a:ext cx="3416300" cy="2273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8900" y="1993900"/>
            <a:ext cx="3416300" cy="22733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8300" y="1993900"/>
            <a:ext cx="3416300" cy="22733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1000" y="1028700"/>
            <a:ext cx="10490200" cy="8636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838200" y="5130800"/>
            <a:ext cx="9525000" cy="25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74800" y="3797300"/>
            <a:ext cx="381000" cy="50800"/>
          </a:xfrm>
          <a:prstGeom prst="rect">
            <a:avLst/>
          </a:prstGeom>
        </p:spPr>
      </p:pic>
      <p:sp>
        <p:nvSpPr>
          <p:cNvPr id="28" name="TextBox 28"/>
          <p:cNvSpPr txBox="1"/>
          <p:nvPr/>
        </p:nvSpPr>
        <p:spPr>
          <a:xfrm>
            <a:off x="1524000" y="4013200"/>
            <a:ext cx="3416300" cy="11684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캠퍼스 내 교수, 선후배 간 네트워킹 심리적 장벽으로 비활성화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34126" y="927826"/>
            <a:ext cx="4711699" cy="1981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en-US" sz="3079" b="0" i="0" u="none" strike="noStrike" dirty="0">
                <a:solidFill>
                  <a:srgbClr val="2C2C2C"/>
                </a:solidFill>
                <a:latin typeface="Pretendard ExtraBold"/>
              </a:rPr>
              <a:t>교수님들과 학생, 선배와 후배사이의 친밀도를 위한 QRious (2등 수상)</a:t>
            </a:r>
            <a:endParaRPr lang="ko-KR" sz="6000" b="0" i="0" u="none" strike="noStrike" dirty="0">
              <a:solidFill>
                <a:srgbClr val="2C2C2C"/>
              </a:solidFill>
              <a:ea typeface="Pretendard Extra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47483648" y="-160066990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300"/>
            <a:ext cx="190500" cy="10528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700" y="4279900"/>
            <a:ext cx="863600" cy="1727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41200" y="4711700"/>
            <a:ext cx="5080000" cy="4406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82500" y="5041900"/>
            <a:ext cx="4597400" cy="2247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41200" y="3657600"/>
            <a:ext cx="5080000" cy="952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4711700"/>
            <a:ext cx="5080000" cy="4406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5041900"/>
            <a:ext cx="4597400" cy="2247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1000" y="3657600"/>
            <a:ext cx="5080000" cy="952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1000" y="1143000"/>
            <a:ext cx="10490200" cy="21463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7416800" y="2743200"/>
            <a:ext cx="292100" cy="381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7416800" y="2286000"/>
            <a:ext cx="292100" cy="38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838200" y="5130800"/>
            <a:ext cx="9525000" cy="25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74800" y="3797300"/>
            <a:ext cx="381000" cy="508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2382500" y="7556500"/>
            <a:ext cx="4648200" cy="1117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1480" b="0" i="0" u="none" strike="noStrike">
                <a:solidFill>
                  <a:srgbClr val="2C2C2C"/>
                </a:solidFill>
                <a:ea typeface="Pretendard Regular"/>
              </a:rPr>
              <a:t>LLM Fine-tuning과 RAG 비교 분석. 높은 재학습 비용, 환각 제어 어려움으로 RAG 채택. 3만 건 문서 분할, 임베딩, 벡터 DB 저장. 수십 번 프롬프트 수정으로 답변 정확도 고도화.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985000" y="7556500"/>
            <a:ext cx="4648200" cy="1117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1900" b="0" i="0" u="none" strike="noStrike">
                <a:solidFill>
                  <a:srgbClr val="2C2C2C"/>
                </a:solidFill>
                <a:ea typeface="Pretendard Regular"/>
              </a:rPr>
              <a:t>캠퍼스 내 교수·선후배 간 네트워킹 심리적 장벽, 관계 형성 명분·계기 부재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24000" y="927100"/>
            <a:ext cx="3517900" cy="1981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en-US" altLang="ko-KR" sz="2206" dirty="0">
                <a:solidFill>
                  <a:srgbClr val="2C2C2C"/>
                </a:solidFill>
                <a:latin typeface="Pretendard ExtraBold"/>
                <a:ea typeface="Pretendard ExtraBold"/>
              </a:rPr>
              <a:t>교수님들과 학생, 선배와 후배사이의 친밀도를 위한 QRious (2등 수상)</a:t>
            </a:r>
            <a:endParaRPr lang="ko-KR" sz="6000" b="0" i="0" u="none" strike="noStrike" dirty="0">
              <a:solidFill>
                <a:srgbClr val="2C2C2C"/>
              </a:solidFill>
              <a:ea typeface="Pretendard Extra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47483648" y="-160066990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300"/>
            <a:ext cx="190500" cy="10528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700" y="4279900"/>
            <a:ext cx="863600" cy="17272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alphaModFix amt="70000"/>
          </a:blip>
          <a:stretch>
            <a:fillRect/>
          </a:stretch>
        </p:blipFill>
        <p:spPr>
          <a:xfrm>
            <a:off x="11277600" y="6915150"/>
            <a:ext cx="1346200" cy="977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6200" y="5734050"/>
            <a:ext cx="8229600" cy="952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6200" y="4667250"/>
            <a:ext cx="8229600" cy="952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6200" y="3600450"/>
            <a:ext cx="8229600" cy="952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8300" y="3600450"/>
            <a:ext cx="2108200" cy="3086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838200" y="5130800"/>
            <a:ext cx="9525000" cy="25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74800" y="3797300"/>
            <a:ext cx="381000" cy="508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10490200" y="4908550"/>
            <a:ext cx="64897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2370" b="0" i="0" u="none" strike="noStrike">
                <a:solidFill>
                  <a:srgbClr val="2C2C2C"/>
                </a:solidFill>
                <a:ea typeface="Pretendard Regular"/>
              </a:rPr>
              <a:t>Google Gemini, OpenAI GPT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283700" y="4908550"/>
            <a:ext cx="12319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2006" b="0" i="0" u="none" strike="noStrike">
                <a:solidFill>
                  <a:srgbClr val="889EB4"/>
                </a:solidFill>
                <a:ea typeface="Pretendard Bold"/>
              </a:rPr>
              <a:t>기술 스택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490200" y="3841750"/>
            <a:ext cx="64897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2370" b="0" i="0" u="none" strike="noStrike">
                <a:solidFill>
                  <a:srgbClr val="2C2C2C"/>
                </a:solidFill>
                <a:ea typeface="Pretendard Regular"/>
              </a:rPr>
              <a:t>기업 내 업무 성과 평가 과정의 어려움 인지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283700" y="3854450"/>
            <a:ext cx="12319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2006" b="0" i="0" u="none" strike="noStrike">
                <a:solidFill>
                  <a:srgbClr val="889EB4"/>
                </a:solidFill>
                <a:ea typeface="Pretendard Bold"/>
              </a:rPr>
              <a:t>문제 정의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524000" y="4013200"/>
            <a:ext cx="3416300" cy="11684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1557" b="0" i="0" u="none" strike="noStrike">
                <a:solidFill>
                  <a:srgbClr val="2C2C2C"/>
                </a:solidFill>
                <a:ea typeface="Pretendard Regular"/>
              </a:rPr>
              <a:t>2026-05, 기획·기업 미팅·프론트엔드 개발 파트 담당</a:t>
            </a:r>
          </a:p>
          <a:p>
            <a:pPr lvl="0" algn="l">
              <a:lnSpc>
                <a:spcPct val="132800"/>
              </a:lnSpc>
            </a:pPr>
            <a:r>
              <a:rPr lang="ko-KR" sz="1557" b="0" i="0" u="none" strike="noStrike">
                <a:solidFill>
                  <a:srgbClr val="2C2C2C"/>
                </a:solidFill>
                <a:ea typeface="Pretendard Regular"/>
              </a:rPr>
              <a:t>5가지 섹션 요약본 5분 내 작성 및 공유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574800" y="2933700"/>
            <a:ext cx="36195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en-US" sz="1433" b="0" i="0" u="none" strike="noStrike">
                <a:solidFill>
                  <a:srgbClr val="207CD7"/>
                </a:solidFill>
                <a:latin typeface="Pretendard Bold"/>
              </a:rPr>
              <a:t>기간 · 역할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524000" y="927100"/>
            <a:ext cx="3683000" cy="1981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ko-KR" sz="5520" b="0" i="0" u="none" strike="noStrike">
                <a:solidFill>
                  <a:srgbClr val="2C2C2C"/>
                </a:solidFill>
                <a:ea typeface="Pretendard ExtraBold"/>
              </a:rPr>
              <a:t>Daily Snippet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47483648" y="-160066990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300"/>
            <a:ext cx="190500" cy="10528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700" y="4279900"/>
            <a:ext cx="863600" cy="1727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41200" y="4711700"/>
            <a:ext cx="5080000" cy="4406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82500" y="5041900"/>
            <a:ext cx="4597400" cy="2247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41200" y="3657600"/>
            <a:ext cx="5080000" cy="952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4711700"/>
            <a:ext cx="5080000" cy="4406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5041900"/>
            <a:ext cx="4597400" cy="2247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1000" y="3657600"/>
            <a:ext cx="5080000" cy="952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1000" y="1143000"/>
            <a:ext cx="10490200" cy="21463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7416800" y="2743200"/>
            <a:ext cx="292100" cy="381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7416800" y="2286000"/>
            <a:ext cx="292100" cy="38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838200" y="5130800"/>
            <a:ext cx="9525000" cy="25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74800" y="3797300"/>
            <a:ext cx="381000" cy="508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6985000" y="7556500"/>
            <a:ext cx="4648200" cy="1117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1480" b="0" i="0" u="none" strike="noStrike">
                <a:solidFill>
                  <a:srgbClr val="2C2C2C"/>
                </a:solidFill>
                <a:ea typeface="Pretendard Regular"/>
              </a:rPr>
              <a:t>LLM 연동 AI 기반 자동 채점 시스템 도입 (객관성·일관성 확보)</a:t>
            </a:r>
          </a:p>
          <a:p>
            <a:pPr lvl="0" algn="l">
              <a:lnSpc>
                <a:spcPct val="132800"/>
              </a:lnSpc>
            </a:pPr>
            <a:r>
              <a:rPr lang="ko-KR" sz="1480" b="0" i="0" u="none" strike="noStrike">
                <a:solidFill>
                  <a:srgbClr val="2C2C2C"/>
                </a:solidFill>
                <a:ea typeface="Pretendard Regular"/>
              </a:rPr>
              <a:t>대기업과 3개월 파일럿 테스트, 피드백 수렴 및 개선점 도출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410700" y="2133600"/>
            <a:ext cx="56642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en-US" sz="1433" b="0" i="0" u="none" strike="noStrike">
                <a:solidFill>
                  <a:srgbClr val="2C2C2C"/>
                </a:solidFill>
                <a:latin typeface="Pretendard Regular"/>
              </a:rPr>
              <a:t>기업 내 업무 성과 평가 과정의 어려움 인지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734300" y="2146300"/>
            <a:ext cx="15875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1433" b="0" i="0" u="none" strike="noStrike">
                <a:solidFill>
                  <a:srgbClr val="2C2C2C"/>
                </a:solidFill>
                <a:ea typeface="Pretendard Bold"/>
              </a:rPr>
              <a:t>문제 정의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24000" y="927100"/>
            <a:ext cx="3517900" cy="1981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en-US" altLang="ko-KR" sz="5520" dirty="0">
                <a:solidFill>
                  <a:srgbClr val="2C2C2C"/>
                </a:solidFill>
                <a:latin typeface="Pretendard ExtraBold"/>
                <a:ea typeface="Pretendard ExtraBold"/>
              </a:rPr>
              <a:t>Daily Snippet</a:t>
            </a:r>
            <a:endParaRPr lang="ko-KR" sz="6000" b="0" i="0" u="none" strike="noStrike" dirty="0">
              <a:solidFill>
                <a:srgbClr val="2C2C2C"/>
              </a:solidFill>
              <a:ea typeface="Pretendard Extra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47483648" y="-160066990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300"/>
            <a:ext cx="190500" cy="10528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700" y="4279900"/>
            <a:ext cx="863600" cy="17272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alphaModFix amt="70000"/>
          </a:blip>
          <a:stretch>
            <a:fillRect/>
          </a:stretch>
        </p:blipFill>
        <p:spPr>
          <a:xfrm>
            <a:off x="11277600" y="6915150"/>
            <a:ext cx="1346200" cy="977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6200" y="5734050"/>
            <a:ext cx="8229600" cy="952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6200" y="4667250"/>
            <a:ext cx="8229600" cy="952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6200" y="3600450"/>
            <a:ext cx="8229600" cy="952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8300" y="3600450"/>
            <a:ext cx="2108200" cy="3086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838200" y="5130800"/>
            <a:ext cx="9525000" cy="25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74800" y="3797300"/>
            <a:ext cx="381000" cy="5080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10490200" y="3841750"/>
            <a:ext cx="64897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1845" b="0" i="0" u="none" strike="noStrike">
                <a:solidFill>
                  <a:srgbClr val="2C2C2C"/>
                </a:solidFill>
                <a:ea typeface="Pretendard Regular"/>
              </a:rPr>
              <a:t>데이터 파편화, 수치화 역량 부재, JD 매칭 실패, 3분 스캔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283700" y="3854450"/>
            <a:ext cx="12319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2006" b="0" i="0" u="none" strike="noStrike">
                <a:solidFill>
                  <a:srgbClr val="889EB4"/>
                </a:solidFill>
                <a:ea typeface="Pretendard Bold"/>
              </a:rPr>
              <a:t>기술 스택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524000" y="4013200"/>
            <a:ext cx="3416300" cy="11684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1840" b="0" i="0" u="none" strike="noStrike">
                <a:solidFill>
                  <a:srgbClr val="2C2C2C"/>
                </a:solidFill>
                <a:ea typeface="Pretendard Regular"/>
              </a:rPr>
              <a:t>2026-05, PM으로서 사용자 문제 정의 전 과정 주도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574800" y="2933700"/>
            <a:ext cx="36195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en-US" sz="1433" b="0" i="0" u="none" strike="noStrike">
                <a:solidFill>
                  <a:srgbClr val="207CD7"/>
                </a:solidFill>
                <a:latin typeface="Pretendard Bold"/>
              </a:rPr>
              <a:t>기간 · 역할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524000" y="927100"/>
            <a:ext cx="3683000" cy="1981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ko-KR" sz="2606" b="0" i="0" u="none" strike="noStrike">
                <a:solidFill>
                  <a:srgbClr val="2C2C2C"/>
                </a:solidFill>
                <a:ea typeface="Pretendard ExtraBold"/>
              </a:rPr>
              <a:t>취준생들을 위한 맞춤형 포트폴리오 제작 서비스 Fitpoly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47483648" y="-160066990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300"/>
            <a:ext cx="190500" cy="10528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700" y="4279900"/>
            <a:ext cx="863600" cy="1727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6731000"/>
            <a:ext cx="10045700" cy="2413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937000"/>
            <a:ext cx="10045700" cy="2413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1143000"/>
            <a:ext cx="10045700" cy="2413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9271000" y="7937500"/>
            <a:ext cx="1943100" cy="25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9271000" y="2336800"/>
            <a:ext cx="1943100" cy="25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838200" y="5130800"/>
            <a:ext cx="9525000" cy="254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74800" y="3797300"/>
            <a:ext cx="381000" cy="508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0795000" y="7353300"/>
            <a:ext cx="5664200" cy="1219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342900" lvl="0" indent="-342900" algn="l">
              <a:lnSpc>
                <a:spcPct val="132800"/>
              </a:lnSpc>
              <a:buClr>
                <a:srgbClr val="2C2C2C"/>
              </a:buClr>
              <a:buFont typeface="Arial"/>
              <a:buChar char="●"/>
            </a:pPr>
            <a:r>
              <a:rPr lang="ko-KR" sz="1635" b="0" i="0" u="none" strike="noStrike">
                <a:solidFill>
                  <a:srgbClr val="2C2C2C"/>
                </a:solidFill>
                <a:ea typeface="Pretendard Regular"/>
              </a:rPr>
              <a:t>5명 사용자 심층 인터뷰, 문제 원인 분석</a:t>
            </a:r>
          </a:p>
          <a:p>
            <a:pPr marL="342900" lvl="0" indent="-342900" algn="l">
              <a:lnSpc>
                <a:spcPct val="132800"/>
              </a:lnSpc>
              <a:buClr>
                <a:srgbClr val="2C2C2C"/>
              </a:buClr>
              <a:buFont typeface="Arial"/>
              <a:buChar char="●"/>
            </a:pPr>
            <a:r>
              <a:rPr lang="ko-KR" sz="1635" b="0" i="0" u="none" strike="noStrike">
                <a:solidFill>
                  <a:srgbClr val="2C2C2C"/>
                </a:solidFill>
                <a:ea typeface="Pretendard Regular"/>
              </a:rPr>
              <a:t>62% 서류 탈락률 등 시장 데이터 기반, '데이터 관리' 대안 선택</a:t>
            </a:r>
          </a:p>
          <a:p>
            <a:pPr marL="342900" lvl="0" indent="-342900" algn="l">
              <a:lnSpc>
                <a:spcPct val="132800"/>
              </a:lnSpc>
              <a:buClr>
                <a:srgbClr val="2C2C2C"/>
              </a:buClr>
              <a:buFont typeface="Arial"/>
              <a:buChar char="●"/>
            </a:pPr>
            <a:r>
              <a:rPr lang="ko-KR" sz="1635" b="0" i="0" u="none" strike="noStrike">
                <a:solidFill>
                  <a:srgbClr val="2C2C2C"/>
                </a:solidFill>
                <a:ea typeface="Pretendard Regular"/>
              </a:rPr>
              <a:t>데이터 기반 판단 및 실행으로 프로젝트 방향 설정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795000" y="1752600"/>
            <a:ext cx="5664200" cy="1219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342900" lvl="0" indent="-342900" algn="l">
              <a:lnSpc>
                <a:spcPct val="132800"/>
              </a:lnSpc>
              <a:buClr>
                <a:srgbClr val="2C2C2C"/>
              </a:buClr>
              <a:buFont typeface="Arial"/>
              <a:buChar char="●"/>
            </a:pPr>
            <a:r>
              <a:rPr lang="ko-KR" sz="2100" b="0" i="0" u="none" strike="noStrike">
                <a:solidFill>
                  <a:srgbClr val="2C2C2C"/>
                </a:solidFill>
                <a:ea typeface="Pretendard Regular"/>
              </a:rPr>
              <a:t>취준생 자소서·포트폴리오 작성 어려움, JD 맞춤 비효율 문제 정의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66750" y="901700"/>
            <a:ext cx="4584700" cy="1981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en-US" sz="3079" b="0" i="0" u="none" strike="noStrike" dirty="0">
                <a:solidFill>
                  <a:srgbClr val="2C2C2C"/>
                </a:solidFill>
                <a:latin typeface="Pretendard ExtraBold"/>
              </a:rPr>
              <a:t>취준생들을 위한 맞춤형 포트폴리오 제작 서비스 Fitpoly</a:t>
            </a:r>
            <a:endParaRPr lang="ko-KR" sz="6000" b="0" i="0" u="none" strike="noStrike" dirty="0">
              <a:solidFill>
                <a:srgbClr val="2C2C2C"/>
              </a:solidFill>
              <a:ea typeface="Pretendard Extra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47483648" y="-160066990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300"/>
            <a:ext cx="190500" cy="10528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700" y="4279900"/>
            <a:ext cx="863600" cy="1727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6200" y="7975600"/>
            <a:ext cx="8229600" cy="952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6200" y="6908800"/>
            <a:ext cx="8229600" cy="952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6200" y="5854700"/>
            <a:ext cx="8229600" cy="952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8300" y="5854700"/>
            <a:ext cx="2108200" cy="3086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alphaModFix amt="70000"/>
          </a:blip>
          <a:stretch>
            <a:fillRect/>
          </a:stretch>
        </p:blipFill>
        <p:spPr>
          <a:xfrm>
            <a:off x="11277600" y="4660900"/>
            <a:ext cx="1346200" cy="977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6200" y="3479800"/>
            <a:ext cx="8229600" cy="952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6200" y="2413000"/>
            <a:ext cx="8229600" cy="952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6200" y="1346200"/>
            <a:ext cx="8229600" cy="952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8300" y="1346200"/>
            <a:ext cx="2108200" cy="3086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838200" y="5130800"/>
            <a:ext cx="9525000" cy="25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74800" y="3797300"/>
            <a:ext cx="381000" cy="50800"/>
          </a:xfrm>
          <a:prstGeom prst="rect">
            <a:avLst/>
          </a:prstGeom>
        </p:spPr>
      </p:pic>
      <p:sp>
        <p:nvSpPr>
          <p:cNvPr id="30" name="TextBox 30"/>
          <p:cNvSpPr txBox="1"/>
          <p:nvPr/>
        </p:nvSpPr>
        <p:spPr>
          <a:xfrm>
            <a:off x="1524000" y="4013200"/>
            <a:ext cx="3416300" cy="11684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1400" b="0" i="0" u="none" strike="noStrike">
                <a:solidFill>
                  <a:srgbClr val="2C2C2C"/>
                </a:solidFill>
                <a:ea typeface="Pretendard Regular"/>
              </a:rPr>
              <a:t>Google XYZ: 사용자 인터뷰, 시장 데이터 분석으로 '데이터 파편화' 등 3가지 문제 정의. 제품 전략 '디자인 툴'→'경력 관리 플랫폼' 재정의. 리소스 절약, 핵심 기능 집중.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524000" y="927100"/>
            <a:ext cx="3683000" cy="1981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ko-KR" sz="2606" b="0" i="0" u="none" strike="noStrike">
                <a:solidFill>
                  <a:srgbClr val="2C2C2C"/>
                </a:solidFill>
                <a:ea typeface="Pretendard ExtraBold"/>
              </a:rPr>
              <a:t>취준생들을 위한 맞춤형 포트폴리오 제작 서비스 Fitpoly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47483648" y="-160066990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300"/>
            <a:ext cx="190500" cy="10528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700" y="4279900"/>
            <a:ext cx="863600" cy="1727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0" y="7835900"/>
            <a:ext cx="762000" cy="762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4600" y="7950200"/>
            <a:ext cx="8470900" cy="1143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35900" y="6502400"/>
            <a:ext cx="8470900" cy="1143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1000" y="6400800"/>
            <a:ext cx="749300" cy="7493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1000" y="5397500"/>
            <a:ext cx="1536700" cy="723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0" y="3479800"/>
            <a:ext cx="762000" cy="7620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4600" y="3594100"/>
            <a:ext cx="8470900" cy="11430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35900" y="2146300"/>
            <a:ext cx="8470900" cy="11430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1000" y="2044700"/>
            <a:ext cx="749300" cy="7493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1000" y="1041400"/>
            <a:ext cx="1536700" cy="7239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838200" y="5130800"/>
            <a:ext cx="9525000" cy="254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74800" y="3797300"/>
            <a:ext cx="381000" cy="5080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1524000" y="4013200"/>
            <a:ext cx="3416300" cy="15748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딥페이크·생성형 AI로 개인 이미지 무단 학습 문제 심각</a:t>
            </a:r>
          </a:p>
          <a:p>
            <a:pPr lvl="0" algn="l">
              <a:lnSpc>
                <a:spcPct val="132800"/>
              </a:lnSpc>
            </a:pP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기존 솔루션: 개인정보 유출 위험 및 느린 처리 속도 한계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574800" y="2933700"/>
            <a:ext cx="36195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en-US" sz="1433" b="0" i="0" u="none" strike="noStrike">
                <a:solidFill>
                  <a:srgbClr val="207CD7"/>
                </a:solidFill>
                <a:latin typeface="Pretendard Bold"/>
              </a:rPr>
              <a:t>문제 정의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524000" y="927100"/>
            <a:ext cx="3683000" cy="1981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ko-KR" sz="2606" b="0" i="0" u="none" strike="noStrike">
                <a:solidFill>
                  <a:srgbClr val="2C2C2C"/>
                </a:solidFill>
                <a:ea typeface="Pretendard ExtraBold"/>
              </a:rPr>
              <a:t>온디바이스 기반 접대적 섭동 기술을 활용한 딥페이크 방지 Aegis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47483648" y="-160066990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300"/>
            <a:ext cx="190500" cy="10528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700" y="4279900"/>
            <a:ext cx="863600" cy="1727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6731000"/>
            <a:ext cx="10045700" cy="2413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937000"/>
            <a:ext cx="10045700" cy="2413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1143000"/>
            <a:ext cx="10045700" cy="2413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9271000" y="7937500"/>
            <a:ext cx="1943100" cy="25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9271000" y="5130800"/>
            <a:ext cx="1943100" cy="25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9271000" y="2336800"/>
            <a:ext cx="1943100" cy="25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838200" y="5130800"/>
            <a:ext cx="9525000" cy="254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74800" y="3797300"/>
            <a:ext cx="381000" cy="508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0795000" y="7353300"/>
            <a:ext cx="5664200" cy="1219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342900" lvl="0" indent="-342900" algn="l">
              <a:lnSpc>
                <a:spcPct val="132800"/>
              </a:lnSpc>
              <a:buClr>
                <a:srgbClr val="2C2C2C"/>
              </a:buClr>
              <a:buFont typeface="Arial"/>
              <a:buChar char="●"/>
            </a:pPr>
            <a:r>
              <a:rPr lang="ko-KR" sz="1635" b="0" i="0" u="none" strike="noStrike">
                <a:solidFill>
                  <a:srgbClr val="2C2C2C"/>
                </a:solidFill>
                <a:ea typeface="Pretendard Regular"/>
              </a:rPr>
              <a:t>2026-05, 프로젝트 리더 및 프로덕트 기획자 (PM)</a:t>
            </a:r>
          </a:p>
          <a:p>
            <a:pPr marL="342900" lvl="0" indent="-342900" algn="l">
              <a:lnSpc>
                <a:spcPct val="132800"/>
              </a:lnSpc>
              <a:buClr>
                <a:srgbClr val="2C2C2C"/>
              </a:buClr>
              <a:buFont typeface="Arial"/>
              <a:buChar char="●"/>
            </a:pPr>
            <a:r>
              <a:rPr lang="ko-KR" sz="1635" b="0" i="0" u="none" strike="noStrike">
                <a:solidFill>
                  <a:srgbClr val="2C2C2C"/>
                </a:solidFill>
                <a:ea typeface="Pretendard Regular"/>
              </a:rPr>
              <a:t>동아리 창설, 문제 정의, 아이디어 구체화, 핵심 기능 설계</a:t>
            </a:r>
          </a:p>
          <a:p>
            <a:pPr marL="342900" lvl="0" indent="-342900" algn="l">
              <a:lnSpc>
                <a:spcPct val="132800"/>
              </a:lnSpc>
              <a:buClr>
                <a:srgbClr val="2C2C2C"/>
              </a:buClr>
              <a:buFont typeface="Arial"/>
              <a:buChar char="●"/>
            </a:pPr>
            <a:r>
              <a:rPr lang="ko-KR" sz="1635" b="0" i="0" u="none" strike="noStrike">
                <a:solidFill>
                  <a:srgbClr val="2C2C2C"/>
                </a:solidFill>
                <a:ea typeface="Pretendard Regular"/>
              </a:rPr>
              <a:t>팀 방향성 제시 등 기획 전 과정 100% 기여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795000" y="4546600"/>
            <a:ext cx="5664200" cy="1219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342900" lvl="0" indent="-342900" algn="l">
              <a:lnSpc>
                <a:spcPct val="132800"/>
              </a:lnSpc>
              <a:buClr>
                <a:srgbClr val="2C2C2C"/>
              </a:buClr>
              <a:buFont typeface="Arial"/>
              <a:buChar char="●"/>
            </a:pPr>
            <a:r>
              <a:rPr lang="ko-KR" sz="1504" b="0" i="0" u="none" strike="noStrike">
                <a:solidFill>
                  <a:srgbClr val="2C2C2C"/>
                </a:solidFill>
                <a:ea typeface="Pretendard Regular"/>
              </a:rPr>
              <a:t>동아리 창설, 가천대 3대 불편 해소 '가천길잡이' 앱 기획 주도</a:t>
            </a:r>
          </a:p>
          <a:p>
            <a:pPr marL="342900" lvl="0" indent="-342900" algn="l">
              <a:lnSpc>
                <a:spcPct val="132800"/>
              </a:lnSpc>
              <a:buClr>
                <a:srgbClr val="2C2C2C"/>
              </a:buClr>
              <a:buFont typeface="Arial"/>
              <a:buChar char="●"/>
            </a:pPr>
            <a:r>
              <a:rPr lang="ko-KR" sz="1504" b="0" i="0" u="none" strike="noStrike">
                <a:solidFill>
                  <a:srgbClr val="2C2C2C"/>
                </a:solidFill>
                <a:ea typeface="Pretendard Regular"/>
              </a:rPr>
              <a:t>21,000명 학우 위한 스터디 그룹 → 프로덕트 팀 전환</a:t>
            </a:r>
          </a:p>
          <a:p>
            <a:pPr marL="342900" lvl="0" indent="-342900" algn="l">
              <a:lnSpc>
                <a:spcPct val="132800"/>
              </a:lnSpc>
              <a:buClr>
                <a:srgbClr val="2C2C2C"/>
              </a:buClr>
              <a:buFont typeface="Arial"/>
              <a:buChar char="●"/>
            </a:pPr>
            <a:r>
              <a:rPr lang="ko-KR" sz="1504" b="0" i="0" u="none" strike="noStrike">
                <a:solidFill>
                  <a:srgbClr val="2C2C2C"/>
                </a:solidFill>
                <a:ea typeface="Pretendard Regular"/>
              </a:rPr>
              <a:t>0에서 1 제품 기획 및 이해관계자 설득 PM 역량 경험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795000" y="1752600"/>
            <a:ext cx="5664200" cy="1219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342900" lvl="0" indent="-342900" algn="l">
              <a:lnSpc>
                <a:spcPct val="132800"/>
              </a:lnSpc>
              <a:buClr>
                <a:srgbClr val="2C2C2C"/>
              </a:buClr>
              <a:buFont typeface="Arial"/>
              <a:buChar char="●"/>
            </a:pPr>
            <a:r>
              <a:rPr lang="ko-KR" sz="2100" b="0" i="0" u="none" strike="noStrike">
                <a:solidFill>
                  <a:srgbClr val="2C2C2C"/>
                </a:solidFill>
                <a:ea typeface="Pretendard Regular"/>
              </a:rPr>
              <a:t>가천대 학생 셔틀버스·스터디 공간·학식당 혼잡 불편함 해소 프로젝트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66750" y="901700"/>
            <a:ext cx="4584700" cy="1981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en-US" sz="2833" b="0" i="0" u="none" strike="noStrike" dirty="0">
                <a:solidFill>
                  <a:srgbClr val="2C2C2C"/>
                </a:solidFill>
                <a:latin typeface="Pretendard ExtraBold"/>
              </a:rPr>
              <a:t>KKSC 동아리 창설 - 가천대학교 학생들의 3가지 불편함을 해소해주는 가천길잡이 서비스 제작</a:t>
            </a:r>
            <a:endParaRPr lang="ko-KR" sz="6000" b="0" i="0" u="none" strike="noStrike" dirty="0">
              <a:solidFill>
                <a:srgbClr val="2C2C2C"/>
              </a:solidFill>
              <a:ea typeface="Pretendard ExtraBo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47483648" y="-160066990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300"/>
            <a:ext cx="190500" cy="10528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700" y="4279900"/>
            <a:ext cx="863600" cy="1727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41200" y="4711700"/>
            <a:ext cx="5080000" cy="4406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82500" y="5041900"/>
            <a:ext cx="4597400" cy="2247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41200" y="3657600"/>
            <a:ext cx="5080000" cy="952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4711700"/>
            <a:ext cx="5080000" cy="4406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5041900"/>
            <a:ext cx="4597400" cy="2247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1000" y="3657600"/>
            <a:ext cx="5080000" cy="952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1000" y="1143000"/>
            <a:ext cx="10490200" cy="21463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7416800" y="2743200"/>
            <a:ext cx="292100" cy="381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7416800" y="2286000"/>
            <a:ext cx="292100" cy="38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838200" y="5130800"/>
            <a:ext cx="9525000" cy="25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74800" y="3797300"/>
            <a:ext cx="381000" cy="508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2382500" y="7556500"/>
            <a:ext cx="4648200" cy="1117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1400" b="0" i="0" u="none" strike="noStrike">
                <a:solidFill>
                  <a:srgbClr val="2C2C2C"/>
                </a:solidFill>
                <a:ea typeface="Pretendard Regular"/>
              </a:rPr>
              <a:t>학식당 문제 해결: '온라인 선결제' 대신 'QR코드 스캔' 채택. 장기적 사용자 경험, 운영 효율 극대화. 학교 행정실 설득, 데이터 기반 논리 구축 및 이해관계자 설득.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24000" y="927100"/>
            <a:ext cx="3517900" cy="1981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en-US" altLang="ko-KR" sz="2206" dirty="0">
                <a:solidFill>
                  <a:srgbClr val="2C2C2C"/>
                </a:solidFill>
                <a:latin typeface="Pretendard ExtraBold"/>
                <a:ea typeface="Pretendard ExtraBold"/>
              </a:rPr>
              <a:t>KKSC 동아리 창설 - 가천대학교 학생들의 3가지 불편함을 해소해주는 가천길잡이 서비스 제작</a:t>
            </a:r>
            <a:endParaRPr lang="ko-KR" sz="6000" b="0" i="0" u="none" strike="noStrike" dirty="0">
              <a:solidFill>
                <a:srgbClr val="2C2C2C"/>
              </a:solidFill>
              <a:ea typeface="Pretendard ExtraBol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47483648" y="-160066990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300"/>
            <a:ext cx="190500" cy="10528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700" y="4279900"/>
            <a:ext cx="863600" cy="17272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alphaModFix amt="70000"/>
          </a:blip>
          <a:stretch>
            <a:fillRect/>
          </a:stretch>
        </p:blipFill>
        <p:spPr>
          <a:xfrm>
            <a:off x="11277600" y="6915150"/>
            <a:ext cx="1346200" cy="977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6200" y="5734050"/>
            <a:ext cx="8229600" cy="952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6200" y="4667250"/>
            <a:ext cx="8229600" cy="952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6200" y="3600450"/>
            <a:ext cx="8229600" cy="952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8300" y="3600450"/>
            <a:ext cx="2108200" cy="3086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838200" y="5130800"/>
            <a:ext cx="9525000" cy="25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74800" y="3797300"/>
            <a:ext cx="381000" cy="5080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10490200" y="3841750"/>
            <a:ext cx="64897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2370" b="0" i="0" u="none" strike="noStrike">
                <a:solidFill>
                  <a:srgbClr val="2C2C2C"/>
                </a:solidFill>
                <a:ea typeface="Pretendard Regular"/>
              </a:rPr>
              <a:t>학사 재학 컴퓨터공학과 · 2021.03~2027.03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524000" y="927100"/>
            <a:ext cx="3683000" cy="1981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ko-KR" sz="6000" b="0" i="0" u="none" strike="noStrike">
                <a:solidFill>
                  <a:srgbClr val="2C2C2C"/>
                </a:solidFill>
                <a:ea typeface="Pretendard ExtraBold"/>
              </a:rPr>
              <a:t>학력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47483648" y="-160066990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300"/>
            <a:ext cx="190500" cy="10528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700" y="4279900"/>
            <a:ext cx="863600" cy="1727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0" y="7835900"/>
            <a:ext cx="762000" cy="762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4600" y="7950200"/>
            <a:ext cx="8470900" cy="1143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35900" y="6502400"/>
            <a:ext cx="8470900" cy="1143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1000" y="6400800"/>
            <a:ext cx="749300" cy="7493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1000" y="5397500"/>
            <a:ext cx="1536700" cy="723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0" y="3479800"/>
            <a:ext cx="762000" cy="7620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4600" y="3594100"/>
            <a:ext cx="8470900" cy="11430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35900" y="2146300"/>
            <a:ext cx="8470900" cy="11430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1000" y="2044700"/>
            <a:ext cx="749300" cy="7493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1000" y="1041400"/>
            <a:ext cx="1536700" cy="7239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838200" y="5130800"/>
            <a:ext cx="9525000" cy="254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74800" y="3797300"/>
            <a:ext cx="381000" cy="50800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>
            <a:off x="6959600" y="1181100"/>
            <a:ext cx="10795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116199"/>
              </a:lnSpc>
            </a:pPr>
            <a:r>
              <a:rPr lang="ko-KR" sz="1698" b="0" i="0" u="none" strike="noStrike">
                <a:solidFill>
                  <a:srgbClr val="207CD7"/>
                </a:solidFill>
                <a:ea typeface="Pretendard Bold"/>
              </a:rPr>
              <a:t>2026.5.14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524000" y="927100"/>
            <a:ext cx="3683000" cy="1981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ko-KR" sz="5520" b="0" i="0" u="none" strike="noStrike">
                <a:solidFill>
                  <a:srgbClr val="2C2C2C"/>
                </a:solidFill>
                <a:ea typeface="Pretendard ExtraBold"/>
              </a:rPr>
              <a:t>수상 및 자격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47483648" y="-160066990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300"/>
            <a:ext cx="190500" cy="10528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700" y="4279900"/>
            <a:ext cx="863600" cy="1727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6731000"/>
            <a:ext cx="10045700" cy="2413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937000"/>
            <a:ext cx="10045700" cy="2413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1143000"/>
            <a:ext cx="10045700" cy="2413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9271000" y="7937500"/>
            <a:ext cx="1943100" cy="25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9271000" y="2336800"/>
            <a:ext cx="1943100" cy="25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838200" y="5130800"/>
            <a:ext cx="9525000" cy="254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74800" y="3797300"/>
            <a:ext cx="381000" cy="508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0795000" y="7353300"/>
            <a:ext cx="5664200" cy="1219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342900" lvl="0" indent="-342900" algn="l">
              <a:lnSpc>
                <a:spcPct val="132800"/>
              </a:lnSpc>
              <a:buClr>
                <a:srgbClr val="2C2C2C"/>
              </a:buClr>
              <a:buFont typeface="Arial"/>
              <a:buChar char="●"/>
            </a:pPr>
            <a:r>
              <a:rPr lang="ko-KR" sz="2100" b="0" i="0" u="none" strike="noStrike">
                <a:solidFill>
                  <a:srgbClr val="2C2C2C"/>
                </a:solidFill>
                <a:ea typeface="Pretendard Regular"/>
              </a:rPr>
              <a:t>LINK https://www.linkedin.com/in/yushin-kim-041ba037b/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795000" y="1752600"/>
            <a:ext cx="5664200" cy="1219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342900" lvl="0" indent="-342900" algn="l">
              <a:lnSpc>
                <a:spcPct val="132800"/>
              </a:lnSpc>
              <a:buClr>
                <a:srgbClr val="2C2C2C"/>
              </a:buClr>
              <a:buFont typeface="Arial"/>
              <a:buChar char="●"/>
            </a:pPr>
            <a:r>
              <a:rPr lang="ko-KR" sz="2100" b="0" i="0" u="none" strike="noStrike">
                <a:solidFill>
                  <a:srgbClr val="2C2C2C"/>
                </a:solidFill>
                <a:ea typeface="Pretendard Regular"/>
              </a:rPr>
              <a:t>EMAIL wooxx3377@gachon.ac.kr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524000" y="4013200"/>
            <a:ext cx="3416300" cy="11684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https://github.com/yushin55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74800" y="2933700"/>
            <a:ext cx="22098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en-US" sz="1433" b="0" i="0" u="none" strike="noStrike">
                <a:solidFill>
                  <a:srgbClr val="207CD7"/>
                </a:solidFill>
                <a:latin typeface="Pretendard Bold"/>
              </a:rPr>
              <a:t>GITHUB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66750" y="901700"/>
            <a:ext cx="4584700" cy="1981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en-US" sz="6000" b="0" i="0" u="none" strike="noStrike" dirty="0">
                <a:solidFill>
                  <a:srgbClr val="2C2C2C"/>
                </a:solidFill>
                <a:latin typeface="Pretendard ExtraBold"/>
              </a:rPr>
              <a:t>연락처</a:t>
            </a:r>
            <a:endParaRPr lang="ko-KR" sz="6000" b="0" i="0" u="none" strike="noStrike" dirty="0">
              <a:solidFill>
                <a:srgbClr val="2C2C2C"/>
              </a:solidFill>
              <a:ea typeface="Pretendard Extra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423</Words>
  <Application>Microsoft Office PowerPoint</Application>
  <PresentationFormat>사용자 지정</PresentationFormat>
  <Paragraphs>116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4" baseType="lpstr">
      <vt:lpstr>Pretendard Bold</vt:lpstr>
      <vt:lpstr>Pretendard ExtraBold</vt:lpstr>
      <vt:lpstr>Arial</vt:lpstr>
      <vt:lpstr>Pretendard Regular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유신 김</cp:lastModifiedBy>
  <cp:revision>5</cp:revision>
  <dcterms:created xsi:type="dcterms:W3CDTF">2006-08-16T00:00:00Z</dcterms:created>
  <dcterms:modified xsi:type="dcterms:W3CDTF">2025-05-25T11:57:58Z</dcterms:modified>
</cp:coreProperties>
</file>