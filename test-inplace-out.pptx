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</p:sldIdLst>
  <p:sldSz cx="18288000" cy="10287000"/>
  <p:notesSz cx="6858000" cy="9144000"/>
  <p:embeddedFontLst>
    <p:embeddedFont>
      <p:font typeface="Pretendard Bold" panose="020B0600000101010101" charset="-127"/>
      <p:bold r:id="rId10"/>
    </p:embeddedFont>
    <p:embeddedFont>
      <p:font typeface="Pretendard ExtraBold" panose="020B0600000101010101" charset="-127"/>
      <p:bold r:id="rId11"/>
    </p:embeddedFont>
    <p:embeddedFont>
      <p:font typeface="Pretendard Regular" panose="020B0600000101010101" charset="-127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7" Type="http://schemas.openxmlformats.org/officeDocument/2006/relationships/slide" Target="slides/slide1.xml"/><Relationship Id="rId13" Type="http://schemas.openxmlformats.org/officeDocument/2006/relationships/presProps" Target="presProp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" Type="http://schemas.openxmlformats.org/officeDocument/2006/relationships/font" Target="fonts/font3.fntdata"/><Relationship Id="rId20" Type="http://schemas.openxmlformats.org/officeDocument/2006/relationships/slide" Target="slides/slide4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1" Type="http://schemas.openxmlformats.org/officeDocument/2006/relationships/slide" Target="slides/slide5.xml"/><Relationship Id="rId11" Type="http://schemas.openxmlformats.org/officeDocument/2006/relationships/font" Target="fonts/font2.fntdata"/><Relationship Id="rId22" Type="http://schemas.openxmlformats.org/officeDocument/2006/relationships/slide" Target="slides/slide6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14" Type="http://schemas.openxmlformats.org/officeDocument/2006/relationships/viewProps" Target="viewProps.xml"/><Relationship Id="rId25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/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/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/>
              <a:t/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/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/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/>
              <a:t/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/>
              <a:t/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/>
              <a:t/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/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/>
              <a:t/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/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/>
              <a:t/>
            </a:r>
          </a:p>
          <a:p>
            <a:pPr lvl="1"/>
            <a:r>
              <a:rPr/>
              <a:t/>
            </a:r>
          </a:p>
          <a:p>
            <a:pPr lvl="2"/>
            <a:r>
              <a:rPr/>
              <a:t/>
            </a:r>
          </a:p>
          <a:p>
            <a:pPr lvl="3"/>
            <a:r>
              <a:rPr/>
              <a:t/>
            </a:r>
          </a:p>
          <a:p>
            <a:pPr lvl="4"/>
            <a:r>
              <a:rPr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3.png"/><Relationship Id="rId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10" Type="http://schemas.openxmlformats.org/officeDocument/2006/relationships/image" Target="../media/image13.png"/><Relationship Id="rId4" Type="http://schemas.openxmlformats.org/officeDocument/2006/relationships/image" Target="../media/image2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3.png"/><Relationship Id="rId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13.png"/><Relationship Id="rId4" Type="http://schemas.openxmlformats.org/officeDocument/2006/relationships/image" Target="../media/image30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8623300"/>
            <a:ext cx="16002000" cy="1041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4724400" y="9118600"/>
            <a:ext cx="292100" cy="3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803400" y="9118600"/>
            <a:ext cx="292100" cy="38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8400" y="762000"/>
            <a:ext cx="125603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454140" y="8916727"/>
            <a:ext cx="30607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altLang="en-US" sz="2000" b="0" i="0" u="none" strike="noStrike" dirty="0">
                <a:solidFill>
                  <a:srgbClr val="2C2C2C"/>
                </a:solidFill>
                <a:ea typeface="Pretendard Regular"/>
              </a:rPr>
              <a:t/>
            </a:r>
            <a:endParaRPr lang="ko-KR" sz="2000" b="0" i="0" u="none" strike="noStrike" dirty="0">
              <a:solidFill>
                <a:srgbClr val="2C2C2C"/>
              </a:solidFill>
              <a:ea typeface="Pretendard Regular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991100" y="8928100"/>
            <a:ext cx="14478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altLang="en-US" sz="1433" b="0" i="0" u="none" strike="noStrike" dirty="0">
                <a:solidFill>
                  <a:srgbClr val="2C2C2C"/>
                </a:solidFill>
                <a:ea typeface="Pretendard Bold"/>
              </a:rPr>
              <a:t>개선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009900" y="8920630"/>
            <a:ext cx="9906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altLang="en-US" sz="1433" b="0" i="0" u="none" strike="noStrike" dirty="0">
                <a:solidFill>
                  <a:srgbClr val="2C2C2C"/>
                </a:solidFill>
                <a:ea typeface="Pretendard Regular"/>
              </a:rPr>
              <a:t>검증</a:t>
            </a:r>
            <a:endParaRPr lang="ko-KR" sz="2000" b="0" i="0" u="none" strike="noStrike" dirty="0">
              <a:solidFill>
                <a:srgbClr val="2C2C2C"/>
              </a:solidFill>
              <a:ea typeface="Pretendard Regula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089150" y="8919329"/>
            <a:ext cx="9906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altLang="en-US" sz="1433" dirty="0">
                <a:solidFill>
                  <a:srgbClr val="2C2C2C"/>
                </a:solidFill>
                <a:latin typeface="Pretendard Bold"/>
                <a:ea typeface="Pretendard Bold"/>
              </a:rPr>
              <a:t>성장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24000" y="5448300"/>
            <a:ext cx="4114800" cy="4191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sz="1800"/>
              <a:t>문제를 정의하고 끝까지 검증합니다.</a:t>
            </a:r>
            <a:endParaRPr lang="en-US" sz="2400" b="0" i="0" u="none" strike="noStrike" dirty="0">
              <a:solidFill>
                <a:srgbClr val="207CD7"/>
              </a:solidFill>
              <a:latin typeface="Pretendard Regula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438400" y="4088674"/>
            <a:ext cx="11760200" cy="1930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ko-KR" altLang="en-US" sz="7200" b="0" i="0" u="none" strike="noStrike" dirty="0">
                <a:ea typeface="Pretendard ExtraBold"/>
              </a:rPr>
              <a:t>코코네</a:t>
            </a:r>
            <a:endParaRPr lang="ko-KR" sz="7200" b="0" i="0" u="none" strike="noStrike" dirty="0">
              <a:ea typeface="Pretendard Extra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524000" y="2336800"/>
            <a:ext cx="10972800" cy="13081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ko-KR" altLang="en-US" sz="6877" b="0" i="0" u="none" strike="noStrike">
                <a:solidFill>
                  <a:srgbClr val="FF0000"/>
                </a:solidFill>
                <a:ea typeface="Pretendard Bold"/>
              </a:rPr>
              <a:t>김유신 포트폴리오</a:t>
            </a:r>
            <a:endParaRPr lang="en-US" sz="9600" b="0" i="0" u="none" strike="noStrike" dirty="0">
              <a:solidFill>
                <a:srgbClr val="FF0000"/>
              </a:solidFill>
              <a:latin typeface="Pretendard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892300" y="622300"/>
            <a:ext cx="1600200" cy="3175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sz="1290"/>
              <a:t>프론트엔드 개발자</a:t>
            </a:r>
            <a:endParaRPr lang="en-US" sz="1800" b="0" i="0" u="none" strike="noStrike" dirty="0">
              <a:solidFill>
                <a:srgbClr val="207CD7"/>
              </a:solidFill>
              <a:latin typeface="Pretendard Regula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6205" y="7785100"/>
            <a:ext cx="9969500" cy="1104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6197600"/>
            <a:ext cx="9969500" cy="1104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4597400"/>
            <a:ext cx="9969500" cy="11049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997200"/>
            <a:ext cx="9969500" cy="1104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1397000"/>
            <a:ext cx="9969500" cy="1104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600" y="7975600"/>
            <a:ext cx="876300" cy="723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600" y="6375400"/>
            <a:ext cx="876300" cy="723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600" y="4787900"/>
            <a:ext cx="876300" cy="7239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600" y="3187700"/>
            <a:ext cx="876300" cy="7239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600" y="1587500"/>
            <a:ext cx="876300" cy="7239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8280400"/>
            <a:ext cx="749300" cy="7493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3303" y="5842000"/>
            <a:ext cx="2726491" cy="21590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623300" y="8089900"/>
            <a:ext cx="3505200" cy="5334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altLang="ko-KR" sz="2539" b="0" i="0" u="none" strike="noStrike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</a:rPr>
              <a:t>연락처</a:t>
            </a:r>
            <a:endParaRPr lang="ko-KR" sz="3000" b="0" i="0" u="none" strike="noStrike" dirty="0">
              <a:solidFill>
                <a:srgbClr val="000000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505700" y="8204200"/>
            <a:ext cx="546100" cy="4572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sz="2025" b="0" i="0" u="none" strike="noStrike">
                <a:solidFill>
                  <a:srgbClr val="1879C2"/>
                </a:solidFill>
                <a:latin typeface="Pretendard Bold"/>
              </a:rPr>
              <a:t>05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23300" y="6489700"/>
            <a:ext cx="3505200" cy="5334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altLang="ko-KR" sz="2539" b="0" i="0" u="none" strike="noStrike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</a:rPr>
              <a:t>수상 및 자격</a:t>
            </a:r>
            <a:endParaRPr lang="ko-KR" sz="3000" b="0" i="0" u="none" strike="noStrike" dirty="0">
              <a:solidFill>
                <a:srgbClr val="000000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505700" y="6604000"/>
            <a:ext cx="546100" cy="4572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sz="2025" b="0" i="0" u="none" strike="noStrike">
                <a:solidFill>
                  <a:srgbClr val="1879C2"/>
                </a:solidFill>
                <a:latin typeface="Pretendard Bold"/>
              </a:rPr>
              <a:t>04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23300" y="4889500"/>
            <a:ext cx="3505200" cy="5334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altLang="ko-KR" sz="2149" dirty="0">
                <a:solidFill>
                  <a:srgbClr val="000000"/>
                </a:solidFill>
                <a:latin typeface="Pretendard Bold"/>
                <a:ea typeface="Pretendard Bold"/>
              </a:rPr>
              <a:t>교내 해커톤 우승 프로젝트</a:t>
            </a:r>
            <a:endParaRPr lang="ko-KR" sz="3000" b="0" i="0" u="none" strike="noStrike" dirty="0">
              <a:solidFill>
                <a:srgbClr val="000000"/>
              </a:solidFill>
              <a:ea typeface="Pretendard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7505700" y="5003800"/>
            <a:ext cx="546100" cy="4572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sz="2025" b="0" i="0" u="none" strike="noStrike">
                <a:solidFill>
                  <a:srgbClr val="1879C2"/>
                </a:solidFill>
                <a:latin typeface="Pretendard Bold"/>
              </a:rPr>
              <a:t>03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623300" y="3289300"/>
            <a:ext cx="3505200" cy="5334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altLang="ko-KR" sz="2149" b="0" i="0" u="none" strike="noStrike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</a:rPr>
              <a:t>POPOL 포트폴리오 서비스</a:t>
            </a:r>
            <a:endParaRPr lang="ko-KR" sz="3000" b="0" i="0" u="none" strike="noStrike" dirty="0">
              <a:solidFill>
                <a:srgbClr val="000000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505700" y="3403600"/>
            <a:ext cx="546100" cy="4572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sz="2025" b="0" i="0" u="none" strike="noStrike">
                <a:solidFill>
                  <a:srgbClr val="1879C2"/>
                </a:solidFill>
                <a:latin typeface="Pretendard Bold"/>
              </a:rPr>
              <a:t>02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623300" y="1689100"/>
            <a:ext cx="3505200" cy="5334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altLang="ko-KR" sz="2539" b="0" i="0" u="none" strike="noStrike" dirty="0">
                <a:solidFill>
                  <a:srgbClr val="000000"/>
                </a:solidFill>
                <a:latin typeface="Pretendard Bold"/>
                <a:ea typeface="Pretendard Bold"/>
              </a:rPr>
              <a:t>소개</a:t>
            </a:r>
            <a:endParaRPr lang="ko-KR" sz="3000" b="0" i="0" u="none" strike="noStrike" dirty="0">
              <a:solidFill>
                <a:srgbClr val="000000"/>
              </a:solidFill>
              <a:ea typeface="Pretendard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7505700" y="1803400"/>
            <a:ext cx="546100" cy="45720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/>
          <a:p>
            <a:pPr lvl="0">
              <a:lnSpc>
                <a:spcPct val="166000"/>
              </a:lnSpc>
            </a:pPr>
            <a:r>
              <a:rPr lang="en-US" sz="2025" b="0" i="0" u="none" strike="noStrike">
                <a:solidFill>
                  <a:srgbClr val="1879C2"/>
                </a:solidFill>
                <a:latin typeface="Pretendard Bold"/>
              </a:rPr>
              <a:t>01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19250" y="6273800"/>
            <a:ext cx="3352800" cy="825500"/>
          </a:xfrm>
          <a:prstGeom prst="rect">
            <a:avLst/>
          </a:prstGeom>
        </p:spPr>
        <p:txBody>
          <a:bodyPr lIns="0" tIns="0" rIns="0" bIns="0" rtlCol="0" anchor="ctr">
            <a:noAutofit/>
          </a:bodyPr>
          <a:lstStyle/>
          <a:p>
            <a:pPr lvl="0">
              <a:lnSpc>
                <a:spcPct val="116199"/>
              </a:lnSpc>
            </a:pPr>
            <a:r>
              <a:rPr lang="ko-KR" altLang="en-US" sz="2300" b="0" i="0" u="none" strike="noStrike" dirty="0">
                <a:solidFill>
                  <a:srgbClr val="2C2C2C"/>
                </a:solidFill>
                <a:ea typeface="Pretendard Regular"/>
              </a:rPr>
              <a:t>학력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574800" y="2146300"/>
            <a:ext cx="22098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>
              <a:lnSpc>
                <a:spcPct val="99600"/>
              </a:lnSpc>
            </a:pPr>
            <a:r>
              <a:rPr lang="en-US" sz="1433" b="0" i="0" u="none" strike="noStrike">
                <a:solidFill>
                  <a:srgbClr val="207CD7"/>
                </a:solidFill>
                <a:latin typeface="Pretendard Bold"/>
              </a:rPr>
              <a:t>기술 스택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524000" y="927100"/>
            <a:ext cx="3543300" cy="1282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>
              <a:lnSpc>
                <a:spcPct val="99600"/>
              </a:lnSpc>
            </a:pPr>
            <a:r>
              <a:rPr lang="ko-KR" sz="6624" b="0" i="0" u="none" strike="noStrike">
                <a:solidFill>
                  <a:srgbClr val="2C2C2C"/>
                </a:solidFill>
                <a:ea typeface="Pretendard ExtraBold"/>
              </a:rPr>
              <a:t>목차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4200" y="6731000"/>
            <a:ext cx="10045700" cy="2413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4200" y="3937000"/>
            <a:ext cx="10045700" cy="2413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4200" y="1143000"/>
            <a:ext cx="10045700" cy="2413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9271000" y="7937500"/>
            <a:ext cx="1943100" cy="25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9271000" y="5130800"/>
            <a:ext cx="1943100" cy="25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9271000" y="2336800"/>
            <a:ext cx="1943100" cy="25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0795000" y="7353300"/>
            <a:ext cx="5664200" cy="1219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342900" lvl="0" indent="-342900" algn="l">
              <a:lnSpc>
                <a:spcPct val="132800"/>
              </a:lnSpc>
              <a:buClr>
                <a:srgbClr val="2C2C2C"/>
              </a:buClr>
              <a:buFont typeface="Arial"/>
              <a:buChar char="●"/>
            </a:pPr>
            <a:r>
              <a:rPr lang="ko-KR" sz="2100" b="0" i="0" u="none" strike="noStrike">
                <a:solidFill>
                  <a:srgbClr val="2C2C2C"/>
                </a:solidFill>
                <a:ea typeface="Pretendard Regular"/>
              </a:rPr>
              <a:t>GitHub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20000" y="7810500"/>
            <a:ext cx="21336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2C2C2C"/>
                </a:solidFill>
                <a:ea typeface="Pretendard Bold"/>
              </a:rPr>
              <a:t>기술 요약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20000" y="7493000"/>
            <a:ext cx="939800" cy="330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900" b="0" i="0" u="none" strike="noStrike">
                <a:solidFill>
                  <a:srgbClr val="9CB8D0"/>
                </a:solidFill>
                <a:ea typeface="Pretendard Bold"/>
              </a:rPr>
              <a:t>github.com…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95000" y="4546600"/>
            <a:ext cx="5664200" cy="1219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342900" lvl="0" indent="-342900" algn="l">
              <a:lnSpc>
                <a:spcPct val="132800"/>
              </a:lnSpc>
              <a:buClr>
                <a:srgbClr val="2C2C2C"/>
              </a:buClr>
              <a:buFont typeface="Arial"/>
              <a:buChar char="●"/>
            </a:pPr>
            <a:r>
              <a:rPr lang="ko-KR" sz="1635" b="0" i="0" u="none" strike="noStrike">
                <a:solidFill>
                  <a:srgbClr val="2C2C2C"/>
                </a:solidFill>
                <a:ea typeface="Pretendard Regular"/>
              </a:rPr>
              <a:t>성장 과정 문제 해결을 위한 집요함과 빠른 학습 능력을 바탕으로 성장해왔습니다. 사용자 피드백을 적극적으로 반영하여 서비스 개선에 기여하는 개발자가 되겠습니다.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20000" y="5003800"/>
            <a:ext cx="21336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437" b="0" i="0" u="none" strike="noStrike">
                <a:solidFill>
                  <a:srgbClr val="2C2C2C"/>
                </a:solidFill>
                <a:ea typeface="Pretendard Bold"/>
              </a:rPr>
              <a:t>wooxx3377@gachon.ac.kr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620000" y="4699000"/>
            <a:ext cx="939800" cy="330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290" b="0" i="0" u="none" strike="noStrike">
                <a:solidFill>
                  <a:srgbClr val="9CB8D0"/>
                </a:solidFill>
                <a:ea typeface="Pretendard Bold"/>
              </a:rPr>
              <a:t>이메일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795000" y="1752600"/>
            <a:ext cx="5664200" cy="1219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342900" lvl="0" indent="-342900" algn="l">
              <a:lnSpc>
                <a:spcPct val="132800"/>
              </a:lnSpc>
              <a:buClr>
                <a:srgbClr val="2C2C2C"/>
              </a:buClr>
              <a:buFont typeface="Arial"/>
              <a:buChar char="●"/>
            </a:pPr>
            <a:r>
              <a:rPr lang="ko-KR" sz="2100" b="0" i="0" u="none" strike="noStrike">
                <a:solidFill>
                  <a:srgbClr val="2C2C2C"/>
                </a:solidFill>
                <a:ea typeface="Pretendard Regular"/>
              </a:rPr>
              <a:t>사용자가 겪는 불편을 수치로 검증하고, 작은 단위로 빠르게 개선하는 것을 중요하게 생각합니다.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620000" y="2209800"/>
            <a:ext cx="21336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2C2C2C"/>
                </a:solidFill>
                <a:ea typeface="Pretendard Bold"/>
              </a:rPr>
              <a:t/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20000" y="1892300"/>
            <a:ext cx="939800" cy="330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290" b="0" i="0" u="none" strike="noStrike">
                <a:solidFill>
                  <a:srgbClr val="9CB8D0"/>
                </a:solidFill>
                <a:ea typeface="Pretendard Bold"/>
              </a:rPr>
              <a:t>가치관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24000" y="4013200"/>
            <a:ext cx="3416300" cy="1168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en-US" sz="1840" b="0" i="0" u="none" strike="noStrike">
                <a:solidFill>
                  <a:srgbClr val="2C2C2C"/>
                </a:solidFill>
                <a:latin typeface="Pretendard Regular"/>
              </a:rPr>
              <a:t>사용자 경험을 개선하고 기술적 한계를 극복하는 개발자가 되는 것을 목표로 합니다.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74800" y="2933700"/>
            <a:ext cx="22098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1433" b="0" i="0" u="none" strike="noStrike">
                <a:solidFill>
                  <a:srgbClr val="207CD7"/>
                </a:solidFill>
                <a:latin typeface="Pretendard Bold"/>
              </a:rPr>
              <a:t>목표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66750" y="901700"/>
            <a:ext cx="4584700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6000" b="0" i="0" u="none" strike="noStrike" dirty="0">
                <a:solidFill>
                  <a:srgbClr val="2C2C2C"/>
                </a:solidFill>
                <a:latin typeface="Pretendard ExtraBold"/>
              </a:rPr>
              <a:t>소개</a:t>
            </a:r>
            <a:endParaRPr lang="ko-KR" sz="6000" b="0" i="0" u="none" strike="noStrike" dirty="0">
              <a:solidFill>
                <a:srgbClr val="2C2C2C"/>
              </a:solidFill>
              <a:ea typeface="Pretendard Extra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41200" y="4711700"/>
            <a:ext cx="5080000" cy="4406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500" y="5041900"/>
            <a:ext cx="4597400" cy="2247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41200" y="3657600"/>
            <a:ext cx="5080000" cy="952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4711700"/>
            <a:ext cx="5080000" cy="4406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5041900"/>
            <a:ext cx="4597400" cy="224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3657600"/>
            <a:ext cx="5080000" cy="952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143000"/>
            <a:ext cx="10490200" cy="2146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7416800" y="2743200"/>
            <a:ext cx="292100" cy="38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7416800" y="2286000"/>
            <a:ext cx="292100" cy="38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382500" y="7556500"/>
            <a:ext cx="4648200" cy="1117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9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030200" y="3898900"/>
            <a:ext cx="33020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2370" b="0" i="0" u="none" strike="noStrike">
                <a:solidFill>
                  <a:srgbClr val="FFFFFF"/>
                </a:solidFill>
                <a:ea typeface="Pretendard Bold"/>
              </a:rPr>
              <a:t>협업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985000" y="7556500"/>
            <a:ext cx="4648200" cy="1117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9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32700" y="3898900"/>
            <a:ext cx="33020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2800" b="0" i="0" u="none" strike="noStrike">
                <a:solidFill>
                  <a:srgbClr val="FFFFFF"/>
                </a:solidFill>
                <a:ea typeface="Pretendard Bold"/>
              </a:rPr>
              <a:t/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10700" y="2590800"/>
            <a:ext cx="56642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Regular"/>
              </a:rPr>
              <a:t>React, Node.js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734300" y="2603500"/>
            <a:ext cx="15748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Bold"/>
              </a:rPr>
              <a:t>도구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10700" y="2133600"/>
            <a:ext cx="56642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en-US" sz="1433" b="0" i="0" u="none" strike="noStrike">
                <a:solidFill>
                  <a:srgbClr val="2C2C2C"/>
                </a:solidFill>
                <a:latin typeface="Pretendard Regular"/>
              </a:rPr>
              <a:t>JavaScript, TypeScript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34300" y="2146300"/>
            <a:ext cx="1587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000" b="0" i="0" u="none" strike="noStrike">
                <a:solidFill>
                  <a:srgbClr val="2C2C2C"/>
                </a:solidFill>
                <a:ea typeface="Pretendard Bold"/>
              </a:rPr>
              <a:t/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505700" y="1435100"/>
            <a:ext cx="25908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2C2C2C"/>
                </a:solidFill>
                <a:ea typeface="Pretendard Bold"/>
              </a:rPr>
              <a:t>언어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24000" y="4013200"/>
            <a:ext cx="3416300" cy="1168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0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574800" y="2933700"/>
            <a:ext cx="3365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1433" b="0" i="0" u="none" strike="noStrike">
                <a:solidFill>
                  <a:srgbClr val="207CD7"/>
                </a:solidFill>
                <a:latin typeface="Pretendard Bold"/>
              </a:rPr>
              <a:t>Firebase, Git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24000" y="927100"/>
            <a:ext cx="3517900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altLang="ko-KR" sz="6000" dirty="0">
                <a:solidFill>
                  <a:srgbClr val="2C2C2C"/>
                </a:solidFill>
                <a:latin typeface="Pretendard ExtraBold"/>
                <a:ea typeface="Pretendard ExtraBold"/>
              </a:rPr>
              <a:t>기술 스택</a:t>
            </a:r>
            <a:endParaRPr lang="ko-KR" sz="6000" b="0" i="0" u="none" strike="noStrike" dirty="0">
              <a:solidFill>
                <a:srgbClr val="2C2C2C"/>
              </a:solidFill>
              <a:ea typeface="Pretendard Extra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6591300"/>
            <a:ext cx="10490200" cy="2679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121900" y="8712200"/>
            <a:ext cx="292100" cy="3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121900" y="8204200"/>
            <a:ext cx="292100" cy="3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121900" y="7696200"/>
            <a:ext cx="292100" cy="38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8788400" y="7912100"/>
            <a:ext cx="1943100" cy="25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8300" y="2070100"/>
            <a:ext cx="10426700" cy="4165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092200"/>
            <a:ext cx="10490200" cy="838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1252200" y="8559800"/>
            <a:ext cx="49657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Regular"/>
              </a:rPr>
              <a:t>포트폴리오 변환 시간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9400" y="8559800"/>
            <a:ext cx="7493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900" b="0" i="0" u="none" strike="noStrike">
                <a:solidFill>
                  <a:srgbClr val="2C2C2C"/>
                </a:solidFill>
                <a:ea typeface="Pretendard Bold"/>
              </a:rPr>
              <a:t>주간 잘림 제보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52200" y="8051800"/>
            <a:ext cx="49657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Regular"/>
              </a:rPr>
              <a:t>8시간 → 10분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439400" y="8051800"/>
            <a:ext cx="7493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900" b="0" i="0" u="none" strike="noStrike">
                <a:solidFill>
                  <a:srgbClr val="2C2C2C"/>
                </a:solidFill>
                <a:ea typeface="Pretendard Bold"/>
              </a:rPr>
              <a:t>변환 시간 단축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252200" y="7543800"/>
            <a:ext cx="49657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Regular"/>
              </a:rPr>
              <a:t>변환 품질 개선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39400" y="7556500"/>
            <a:ext cx="7493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026" b="0" i="0" u="none" strike="noStrike">
                <a:solidFill>
                  <a:srgbClr val="2C2C2C"/>
                </a:solidFill>
                <a:ea typeface="Pretendard Bold"/>
              </a:rPr>
              <a:t>12건 → 0건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48900" y="6959600"/>
            <a:ext cx="59690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Regular"/>
              </a:rPr>
              <a:t>노션형 포트폴리오를 PPT로 자동 변환하는 서비스 개발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51700" y="6972300"/>
            <a:ext cx="21336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180" b="0" i="0" u="none" strike="noStrike">
                <a:solidFill>
                  <a:srgbClr val="2C2C2C"/>
                </a:solidFill>
                <a:ea typeface="Pretendard Bold"/>
              </a:rPr>
              <a:t>React, Node.js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63200" y="12827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en-US" sz="2370" b="0" i="0" u="none" strike="noStrike">
                <a:solidFill>
                  <a:srgbClr val="FFFFFF"/>
                </a:solidFill>
                <a:latin typeface="Pretendard Bold"/>
              </a:rPr>
              <a:t>프론트엔드 리드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24000" y="4013200"/>
            <a:ext cx="3416300" cy="7620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000" b="0" i="0" u="none" strike="noStrike">
                <a:solidFill>
                  <a:srgbClr val="2C2C2C"/>
                </a:solidFill>
                <a:ea typeface="Pretendard Regular"/>
              </a:rPr>
              <a:t>취업 준비생의 포트폴리오 제작 시간 단축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24000" y="927100"/>
            <a:ext cx="3517900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altLang="ko-KR" sz="3347" b="0" i="0" u="none" strike="noStrike" dirty="0">
                <a:solidFill>
                  <a:srgbClr val="2C2C2C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POPOL 포트폴리오 서비스</a:t>
            </a:r>
            <a:endParaRPr lang="ko-KR" sz="6000" b="0" i="0" u="none" strike="noStrike" dirty="0">
              <a:solidFill>
                <a:srgbClr val="2C2C2C"/>
              </a:solidFill>
              <a:latin typeface="Pretendard ExtraBold" panose="020B0600000101010101" charset="-127"/>
              <a:ea typeface="Pretendard ExtraBold" panose="020B0600000101010101" charset="-127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574800" y="2933700"/>
            <a:ext cx="3619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1433" b="0" i="0" u="none" strike="noStrike">
                <a:solidFill>
                  <a:srgbClr val="207CD7"/>
                </a:solidFill>
                <a:latin typeface="Pretendard Bold"/>
              </a:rPr>
              <a:t>2025.09 - 2026.02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41200" y="4711700"/>
            <a:ext cx="5080000" cy="4406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500" y="5041900"/>
            <a:ext cx="4597400" cy="2247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41200" y="3657600"/>
            <a:ext cx="5080000" cy="952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4711700"/>
            <a:ext cx="5080000" cy="4406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5041900"/>
            <a:ext cx="4597400" cy="224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3657600"/>
            <a:ext cx="5080000" cy="952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143000"/>
            <a:ext cx="10490200" cy="2146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7416800" y="2743200"/>
            <a:ext cx="292100" cy="38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7416800" y="2286000"/>
            <a:ext cx="292100" cy="38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382500" y="7556500"/>
            <a:ext cx="4648200" cy="1117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900" b="0" i="0" u="none" strike="noStrike">
                <a:solidFill>
                  <a:srgbClr val="2C2C2C"/>
                </a:solidFill>
                <a:ea typeface="Pretendard Regular"/>
              </a:rPr>
              <a:t>우승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030200" y="3898900"/>
            <a:ext cx="33020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2370" b="0" i="0" u="none" strike="noStrike">
                <a:solidFill>
                  <a:srgbClr val="FFFFFF"/>
                </a:solidFill>
                <a:ea typeface="Pretendard Bold"/>
              </a:rPr>
              <a:t>채용공고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985000" y="7556500"/>
            <a:ext cx="4648200" cy="1117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9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32700" y="3898900"/>
            <a:ext cx="33020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2370" b="0" i="0" u="none" strike="noStrike">
                <a:solidFill>
                  <a:srgbClr val="FFFFFF"/>
                </a:solidFill>
                <a:ea typeface="Pretendard Bold"/>
              </a:rPr>
              <a:t>AI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10700" y="2590800"/>
            <a:ext cx="56642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Regular"/>
              </a:rPr>
              <a:t>2025.11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734300" y="2603500"/>
            <a:ext cx="15748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Bold"/>
              </a:rPr>
              <a:t>대상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10700" y="2133600"/>
            <a:ext cx="56642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en-US" sz="1318" b="0" i="0" u="none" strike="noStrike">
                <a:solidFill>
                  <a:srgbClr val="2C2C2C"/>
                </a:solidFill>
                <a:latin typeface="Pretendard Regular"/>
              </a:rPr>
              <a:t>AI 기반 채용공고 분석 기능을 36시간 안에 구현하여 대상을 수상했습니다.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34300" y="2146300"/>
            <a:ext cx="1587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1433" b="0" i="0" u="none" strike="noStrike">
                <a:solidFill>
                  <a:srgbClr val="2C2C2C"/>
                </a:solidFill>
                <a:ea typeface="Pretendard Bold"/>
              </a:rPr>
              <a:t>팀장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505700" y="1435100"/>
            <a:ext cx="25908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2C2C2C"/>
                </a:solidFill>
                <a:ea typeface="Pretendard Bold"/>
              </a:rPr>
              <a:t>AI 채용공고 분석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24000" y="4013200"/>
            <a:ext cx="3416300" cy="1168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000" b="0" i="0" u="none" strike="noStrike">
                <a:solidFill>
                  <a:srgbClr val="2C2C2C"/>
                </a:solidFill>
                <a:ea typeface="Pretendard Regular"/>
              </a:rPr>
              <a:t>AI 기반 채용공고 분석 기능 구현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574800" y="2933700"/>
            <a:ext cx="3365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1433" b="0" i="0" u="none" strike="noStrike">
                <a:solidFill>
                  <a:srgbClr val="207CD7"/>
                </a:solidFill>
                <a:latin typeface="Pretendard Bold"/>
              </a:rPr>
              <a:t>36시간 내 구현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24000" y="927100"/>
            <a:ext cx="3517900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altLang="ko-KR" sz="5078" dirty="0">
                <a:solidFill>
                  <a:srgbClr val="2C2C2C"/>
                </a:solidFill>
                <a:latin typeface="Pretendard ExtraBold"/>
                <a:ea typeface="Pretendard ExtraBold"/>
              </a:rPr>
              <a:t>교내 해커톤 우승</a:t>
            </a:r>
            <a:endParaRPr lang="ko-KR" sz="6000" b="0" i="0" u="none" strike="noStrike" dirty="0">
              <a:solidFill>
                <a:srgbClr val="2C2C2C"/>
              </a:solidFill>
              <a:ea typeface="Pretendard Extra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200" y="8382000"/>
            <a:ext cx="10490200" cy="863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200" y="7454900"/>
            <a:ext cx="10490200" cy="8636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200" y="6527800"/>
            <a:ext cx="10490200" cy="863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200" y="5588000"/>
            <a:ext cx="10490200" cy="863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0200" y="4622800"/>
            <a:ext cx="10490200" cy="863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79500" y="1993900"/>
            <a:ext cx="3416300" cy="2273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8900" y="1993900"/>
            <a:ext cx="3416300" cy="2273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8300" y="1993900"/>
            <a:ext cx="3416300" cy="2273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1028700"/>
            <a:ext cx="10490200" cy="863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325100" y="85852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en-US" sz="2370" b="0" i="0" u="none" strike="noStrike">
                <a:solidFill>
                  <a:srgbClr val="2C2C2C"/>
                </a:solidFill>
                <a:latin typeface="Pretendard Bold"/>
              </a:rPr>
              <a:t>졸업 예정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325100" y="76454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en-US" sz="2800" b="0" i="0" u="none" strike="noStrike">
                <a:solidFill>
                  <a:srgbClr val="2C2C2C"/>
                </a:solidFill>
                <a:latin typeface="Pretendard Bold"/>
              </a:rPr>
              <a:t/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325100" y="67183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en-US" sz="2800" b="0" i="0" u="none" strike="noStrike">
                <a:solidFill>
                  <a:srgbClr val="2C2C2C"/>
                </a:solidFill>
                <a:latin typeface="Pretendard Bold"/>
              </a:rPr>
              <a:t/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325100" y="57912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en-US" sz="2800" b="0" i="0" u="none" strike="noStrike">
                <a:solidFill>
                  <a:srgbClr val="2C2C2C"/>
                </a:solidFill>
                <a:latin typeface="Pretendard Bold"/>
              </a:rPr>
              <a:t/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63200" y="48260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ko-KR" sz="2800" b="0" i="0" u="none" strike="noStrike">
                <a:solidFill>
                  <a:srgbClr val="FFFFFF"/>
                </a:solidFill>
                <a:ea typeface="Pretendard Bold"/>
              </a:rPr>
              <a:t/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084300" y="2921000"/>
            <a:ext cx="2819400" cy="8128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en-US" sz="4600" b="0" i="0" u="none" strike="noStrike">
                <a:solidFill>
                  <a:srgbClr val="207CD7"/>
                </a:solidFill>
                <a:latin typeface="Pretendard Bold"/>
              </a:rPr>
              <a:t/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109700" y="2527300"/>
            <a:ext cx="2768600" cy="393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1713" b="0" i="0" u="none" strike="noStrike">
                <a:solidFill>
                  <a:srgbClr val="2C2C2C"/>
                </a:solidFill>
                <a:ea typeface="Pretendard Bold"/>
              </a:rPr>
              <a:t>학사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553700" y="2921000"/>
            <a:ext cx="2819400" cy="8128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en-US" sz="4600" b="0" i="0" u="none" strike="noStrike">
                <a:solidFill>
                  <a:srgbClr val="207CD7"/>
                </a:solidFill>
                <a:latin typeface="Pretendard Bold"/>
              </a:rPr>
              <a:t/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579100" y="2527300"/>
            <a:ext cx="2768600" cy="393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1713" b="0" i="0" u="none" strike="noStrike">
                <a:solidFill>
                  <a:srgbClr val="2C2C2C"/>
                </a:solidFill>
                <a:ea typeface="Pretendard Bold"/>
              </a:rPr>
              <a:t>2021-2026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10400" y="2921000"/>
            <a:ext cx="2819400" cy="8128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en-US" sz="4600" b="0" i="0" u="none" strike="noStrike">
                <a:solidFill>
                  <a:srgbClr val="207CD7"/>
                </a:solidFill>
                <a:latin typeface="Pretendard Bold"/>
              </a:rPr>
              <a:t/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035800" y="2527300"/>
            <a:ext cx="2768600" cy="393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32800"/>
              </a:lnSpc>
            </a:pPr>
            <a:r>
              <a:rPr lang="ko-KR" sz="1713" b="0" i="0" u="none" strike="noStrike">
                <a:solidFill>
                  <a:srgbClr val="2C2C2C"/>
                </a:solidFill>
                <a:ea typeface="Pretendard Bold"/>
              </a:rPr>
              <a:t>컴퓨터공학과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363200" y="1231900"/>
            <a:ext cx="32004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99600"/>
              </a:lnSpc>
            </a:pPr>
            <a:r>
              <a:rPr lang="ko-KR" sz="2370" b="0" i="0" u="none" strike="noStrike">
                <a:solidFill>
                  <a:srgbClr val="FFFFFF"/>
                </a:solidFill>
                <a:ea typeface="Pretendard Bold"/>
              </a:rPr>
              <a:t>가천대학교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24000" y="4013200"/>
            <a:ext cx="3416300" cy="1168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000" b="0" i="0" u="none" strike="noStrike">
                <a:solidFill>
                  <a:srgbClr val="2C2C2C"/>
                </a:solidFill>
                <a:ea typeface="Pretendard Regular"/>
              </a:rPr>
              <a:t>컴퓨터공학과 · 2021-2026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74800" y="2933700"/>
            <a:ext cx="3619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1433" b="0" i="0" u="none" strike="noStrike">
                <a:solidFill>
                  <a:srgbClr val="207CD7"/>
                </a:solidFill>
                <a:latin typeface="Pretendard Bold"/>
              </a:rPr>
              <a:t>가천대학교 컴퓨터공학과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34126" y="927826"/>
            <a:ext cx="4711699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6000" b="0" i="0" u="none" strike="noStrike" dirty="0">
                <a:solidFill>
                  <a:srgbClr val="2C2C2C"/>
                </a:solidFill>
                <a:latin typeface="Pretendard ExtraBold"/>
              </a:rPr>
              <a:t>학력</a:t>
            </a:r>
            <a:endParaRPr lang="ko-KR" sz="6000" b="0" i="0" u="none" strike="noStrike" dirty="0">
              <a:solidFill>
                <a:srgbClr val="2C2C2C"/>
              </a:solidFill>
              <a:ea typeface="Pretendard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7975600"/>
            <a:ext cx="8229600" cy="952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6908800"/>
            <a:ext cx="8229600" cy="952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5854700"/>
            <a:ext cx="8229600" cy="952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300" y="5854700"/>
            <a:ext cx="2108200" cy="3086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11277600" y="4660900"/>
            <a:ext cx="13462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3479800"/>
            <a:ext cx="8229600" cy="952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2413000"/>
            <a:ext cx="8229600" cy="9525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1346200"/>
            <a:ext cx="8229600" cy="9525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8300" y="1346200"/>
            <a:ext cx="2108200" cy="3086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490200" y="8216900"/>
            <a:ext cx="64897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8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283700" y="8229600"/>
            <a:ext cx="12319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207CD7"/>
                </a:solidFill>
                <a:ea typeface="Pretendard Bold"/>
              </a:rPr>
              <a:t/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90200" y="7162800"/>
            <a:ext cx="64897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8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83700" y="7162800"/>
            <a:ext cx="12319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207CD7"/>
                </a:solidFill>
                <a:ea typeface="Pretendard Bold"/>
              </a:rPr>
              <a:t/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90200" y="6096000"/>
            <a:ext cx="64897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370" b="0" i="0" u="none" strike="noStrike">
                <a:solidFill>
                  <a:srgbClr val="2C2C2C"/>
                </a:solidFill>
                <a:ea typeface="Pretendard Regular"/>
              </a:rPr>
              <a:t>교내 해커톤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83700" y="6096000"/>
            <a:ext cx="12319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207CD7"/>
                </a:solidFill>
                <a:ea typeface="Pretendard Bold"/>
              </a:rPr>
              <a:t/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921500" y="7150100"/>
            <a:ext cx="17018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FFFFFF"/>
                </a:solidFill>
                <a:ea typeface="Pretendard Bold"/>
              </a:rPr>
              <a:t>대상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490200" y="3721100"/>
            <a:ext cx="64897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8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83700" y="3721100"/>
            <a:ext cx="12319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889EB4"/>
                </a:solidFill>
                <a:ea typeface="Pretendard Bold"/>
              </a:rPr>
              <a:t/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90200" y="2654300"/>
            <a:ext cx="64897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8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283700" y="2654300"/>
            <a:ext cx="12319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889EB4"/>
                </a:solidFill>
                <a:ea typeface="Pretendard Bold"/>
              </a:rPr>
              <a:t/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90200" y="1587500"/>
            <a:ext cx="64897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8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283700" y="1600200"/>
            <a:ext cx="12319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889EB4"/>
                </a:solidFill>
                <a:ea typeface="Pretendard Bold"/>
              </a:rPr>
              <a:t>2025.11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921500" y="2654300"/>
            <a:ext cx="17018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FFFFFF"/>
                </a:solidFill>
                <a:ea typeface="Pretendard Bold"/>
              </a:rPr>
              <a:t>가천대학교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524000" y="4013200"/>
            <a:ext cx="3416300" cy="1168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000" b="0" i="0" u="none" strike="noStrike">
                <a:solidFill>
                  <a:srgbClr val="2C2C2C"/>
                </a:solidFill>
                <a:ea typeface="Pretendard Regular"/>
              </a:rPr>
              <a:t>가천대학교 · 2025.11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574800" y="2933700"/>
            <a:ext cx="3619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2000" b="0" i="0" u="none" strike="noStrike">
                <a:solidFill>
                  <a:srgbClr val="207CD7"/>
                </a:solidFill>
                <a:latin typeface="Pretendard Bold"/>
              </a:rPr>
              <a:t/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524000" y="927100"/>
            <a:ext cx="3683000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ko-KR" sz="5520" b="0" i="0" u="none" strike="noStrike">
                <a:solidFill>
                  <a:srgbClr val="2C2C2C"/>
                </a:solidFill>
                <a:ea typeface="Pretendard ExtraBold"/>
              </a:rPr>
              <a:t>교내 해커톤 대상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47483648" y="-160066990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"/>
            <a:ext cx="190500" cy="10528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6700" y="4279900"/>
            <a:ext cx="863600" cy="1727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7835900"/>
            <a:ext cx="762000" cy="762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4600" y="7950200"/>
            <a:ext cx="8470900" cy="1143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5900" y="6502400"/>
            <a:ext cx="8470900" cy="1143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6400800"/>
            <a:ext cx="749300" cy="749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5397500"/>
            <a:ext cx="1536700" cy="723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3479800"/>
            <a:ext cx="762000" cy="762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4600" y="3594100"/>
            <a:ext cx="8470900" cy="11430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5900" y="2146300"/>
            <a:ext cx="8470900" cy="1143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2044700"/>
            <a:ext cx="749300" cy="7493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041400"/>
            <a:ext cx="1536700" cy="7239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838200" y="5130800"/>
            <a:ext cx="9525000" cy="254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74800" y="3797300"/>
            <a:ext cx="381000" cy="508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8813800" y="8280400"/>
            <a:ext cx="6680200" cy="520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900" b="0" i="0" u="none" strike="noStrike">
                <a:solidFill>
                  <a:srgbClr val="2C2C2C"/>
                </a:solidFill>
                <a:ea typeface="Pretendard Regular"/>
              </a:rPr>
              <a:t/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102600" y="8191500"/>
            <a:ext cx="635000" cy="71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>
                <a:solidFill>
                  <a:srgbClr val="207CD7"/>
                </a:solidFill>
                <a:latin typeface="Pretendard Bold"/>
              </a:rPr>
              <a:t/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71000" y="6832600"/>
            <a:ext cx="6108700" cy="520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900" b="0" i="0" u="none" strike="noStrike">
                <a:solidFill>
                  <a:srgbClr val="6387AB"/>
                </a:solidFill>
                <a:ea typeface="Pretendard Regular"/>
              </a:rPr>
              <a:t/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559800" y="6743700"/>
            <a:ext cx="635000" cy="71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>
                <a:solidFill>
                  <a:srgbClr val="6387AB"/>
                </a:solidFill>
                <a:latin typeface="Pretendard Bold"/>
              </a:rPr>
              <a:t/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59600" y="5537200"/>
            <a:ext cx="10795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16199"/>
              </a:lnSpc>
            </a:pPr>
            <a:r>
              <a:rPr lang="ko-KR" sz="2800" b="0" i="0" u="none" strike="noStrike">
                <a:solidFill>
                  <a:srgbClr val="207CD7"/>
                </a:solidFill>
                <a:ea typeface="Pretendard Bold"/>
              </a:rPr>
              <a:t/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813800" y="3924300"/>
            <a:ext cx="6680200" cy="520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455" b="0" i="0" u="none" strike="noStrike">
                <a:solidFill>
                  <a:srgbClr val="2C2C2C"/>
                </a:solidFill>
                <a:ea typeface="Pretendard Regular"/>
              </a:rPr>
              <a:t>GitHub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02600" y="3835400"/>
            <a:ext cx="635000" cy="71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en-US" sz="1145" b="0" i="0" u="none" strike="noStrike">
                <a:solidFill>
                  <a:srgbClr val="207CD7"/>
                </a:solidFill>
                <a:latin typeface="Pretendard Bold"/>
              </a:rPr>
              <a:t>github.com/yushin55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71000" y="2476500"/>
            <a:ext cx="6108700" cy="520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ko-KR" sz="2455" b="0" i="0" u="none" strike="noStrike">
                <a:solidFill>
                  <a:srgbClr val="6387AB"/>
                </a:solidFill>
                <a:ea typeface="Pretendard Regular"/>
              </a:rPr>
              <a:t>이메일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559800" y="2387600"/>
            <a:ext cx="635000" cy="71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16199"/>
              </a:lnSpc>
            </a:pPr>
            <a:r>
              <a:rPr lang="en-US" sz="969" b="0" i="0" u="none" strike="noStrike">
                <a:solidFill>
                  <a:srgbClr val="6387AB"/>
                </a:solidFill>
                <a:latin typeface="Pretendard Bold"/>
              </a:rPr>
              <a:t>wooxx3377@gachon.ac.kr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959600" y="1181100"/>
            <a:ext cx="1079500" cy="4953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ctr">
              <a:lnSpc>
                <a:spcPct val="116199"/>
              </a:lnSpc>
            </a:pPr>
            <a:r>
              <a:rPr lang="ko-KR" sz="2370" b="0" i="0" u="none" strike="noStrike">
                <a:solidFill>
                  <a:srgbClr val="207CD7"/>
                </a:solidFill>
                <a:ea typeface="Pretendard Bold"/>
              </a:rPr>
              <a:t>김유신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24000" y="4013200"/>
            <a:ext cx="3416300" cy="15748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132800"/>
              </a:lnSpc>
            </a:pPr>
            <a:r>
              <a:rPr lang="en-US" sz="2000" b="0" i="0" u="none" strike="noStrike">
                <a:solidFill>
                  <a:srgbClr val="2C2C2C"/>
                </a:solidFill>
                <a:latin typeface="Pretendard Regular"/>
              </a:rPr>
              <a:t/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74800" y="2933700"/>
            <a:ext cx="3619500" cy="355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en-US" sz="2000" b="0" i="0" u="none" strike="noStrike">
                <a:solidFill>
                  <a:srgbClr val="207CD7"/>
                </a:solidFill>
                <a:latin typeface="Pretendard Bold"/>
              </a:rPr>
              <a:t/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24000" y="927100"/>
            <a:ext cx="3683000" cy="1981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lvl="0" algn="l">
              <a:lnSpc>
                <a:spcPct val="99600"/>
              </a:lnSpc>
            </a:pPr>
            <a:r>
              <a:rPr lang="ko-KR" sz="6000" b="0" i="0" u="none" strike="noStrike">
                <a:solidFill>
                  <a:srgbClr val="2C2C2C"/>
                </a:solidFill>
                <a:ea typeface="Pretendard ExtraBold"/>
              </a:rPr>
              <a:t>연락처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423</Words>
  <Application>Microsoft Office PowerPoint</Application>
  <PresentationFormat>사용자 지정</PresentationFormat>
  <Paragraphs>116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Pretendard Bold</vt:lpstr>
      <vt:lpstr>Pretendard ExtraBold</vt:lpstr>
      <vt:lpstr>Arial</vt:lpstr>
      <vt:lpstr>Pretendard Regular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유신 김</cp:lastModifiedBy>
  <cp:revision>5</cp:revision>
  <dcterms:created xsi:type="dcterms:W3CDTF">2006-08-16T00:00:00Z</dcterms:created>
  <dcterms:modified xsi:type="dcterms:W3CDTF">2025-05-25T11:57:58Z</dcterms:modified>
</cp:coreProperties>
</file>